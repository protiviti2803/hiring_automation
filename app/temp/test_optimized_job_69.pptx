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Rishabh Chaturvedi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Market Risk</a:t>
            </a:r>
          </a:p>
          <a:p>
            <a:pPr algn="l">
              <a:lnSpc>
                <a:spcPts val="1100"/>
              </a:lnSpc>
              <a:spcAft>
                <a:spcPts val="200"/>
              </a:spcAft>
            </a:pPr>
            <a:r>
              <a:rPr sz="800" b="0">
                <a:latin typeface="Barlow"/>
              </a:rPr>
              <a:t>• Risk Analytics</a:t>
            </a:r>
          </a:p>
          <a:p>
            <a:pPr algn="l">
              <a:lnSpc>
                <a:spcPts val="1100"/>
              </a:lnSpc>
              <a:spcAft>
                <a:spcPts val="200"/>
              </a:spcAft>
            </a:pPr>
            <a:r>
              <a:rPr sz="800" b="0">
                <a:latin typeface="Barlow"/>
              </a:rPr>
              <a:t>• Python</a:t>
            </a:r>
          </a:p>
          <a:p>
            <a:pPr algn="l">
              <a:lnSpc>
                <a:spcPts val="1100"/>
              </a:lnSpc>
              <a:spcAft>
                <a:spcPts val="200"/>
              </a:spcAft>
            </a:pPr>
            <a:r>
              <a:rPr sz="800" b="0">
                <a:latin typeface="Barlow"/>
              </a:rPr>
              <a:t>• SQL</a:t>
            </a:r>
          </a:p>
          <a:p>
            <a:pPr algn="l">
              <a:lnSpc>
                <a:spcPts val="1100"/>
              </a:lnSpc>
              <a:spcAft>
                <a:spcPts val="200"/>
              </a:spcAft>
            </a:pPr>
            <a:r>
              <a:rPr sz="800" b="0">
                <a:latin typeface="Barlow"/>
              </a:rPr>
              <a:t>• Power BI</a:t>
            </a:r>
          </a:p>
          <a:p>
            <a:pPr algn="l">
              <a:lnSpc>
                <a:spcPts val="1100"/>
              </a:lnSpc>
              <a:spcAft>
                <a:spcPts val="200"/>
              </a:spcAft>
            </a:pPr>
            <a:r>
              <a:rPr sz="800" b="0">
                <a:latin typeface="Barlow"/>
              </a:rPr>
              <a:t>• Power Query</a:t>
            </a:r>
          </a:p>
          <a:p>
            <a:pPr algn="l">
              <a:lnSpc>
                <a:spcPts val="1100"/>
              </a:lnSpc>
              <a:spcAft>
                <a:spcPts val="200"/>
              </a:spcAft>
            </a:pPr>
            <a:r>
              <a:rPr sz="800" b="0">
                <a:latin typeface="Barlow"/>
              </a:rPr>
              <a:t>• Advanced Excel</a:t>
            </a:r>
          </a:p>
          <a:p>
            <a:pPr algn="l">
              <a:lnSpc>
                <a:spcPts val="1100"/>
              </a:lnSpc>
              <a:spcAft>
                <a:spcPts val="200"/>
              </a:spcAft>
            </a:pPr>
            <a:r>
              <a:rPr sz="800" b="0">
                <a:latin typeface="Barlow"/>
              </a:rPr>
              <a:t>• AWS</a:t>
            </a:r>
          </a:p>
          <a:p>
            <a:pPr algn="l">
              <a:lnSpc>
                <a:spcPts val="1100"/>
              </a:lnSpc>
              <a:spcAft>
                <a:spcPts val="200"/>
              </a:spcAft>
            </a:pPr>
            <a:r>
              <a:rPr sz="800" b="0">
                <a:latin typeface="Barlow"/>
              </a:rPr>
              <a:t>• JIRA</a:t>
            </a:r>
          </a:p>
          <a:p>
            <a:pPr algn="l">
              <a:lnSpc>
                <a:spcPts val="1100"/>
              </a:lnSpc>
              <a:spcAft>
                <a:spcPts val="200"/>
              </a:spcAft>
            </a:pPr>
            <a:r>
              <a:rPr sz="800" b="0">
                <a:latin typeface="Barlow"/>
              </a:rPr>
              <a:t>• UAT</a:t>
            </a:r>
          </a:p>
          <a:p>
            <a:pPr algn="l">
              <a:lnSpc>
                <a:spcPts val="1100"/>
              </a:lnSpc>
              <a:spcAft>
                <a:spcPts val="200"/>
              </a:spcAft>
            </a:pPr>
            <a:r>
              <a:rPr sz="800" b="0">
                <a:latin typeface="Barlow"/>
              </a:rPr>
              <a:t>• Basel-III/3.1</a:t>
            </a:r>
          </a:p>
          <a:p>
            <a:pPr algn="l">
              <a:lnSpc>
                <a:spcPts val="1100"/>
              </a:lnSpc>
              <a:spcAft>
                <a:spcPts val="200"/>
              </a:spcAft>
            </a:pPr>
            <a:r>
              <a:rPr sz="800" b="0">
                <a:latin typeface="Barlow"/>
              </a:rPr>
              <a:t>• Counterparty Risk</a:t>
            </a:r>
          </a:p>
          <a:p>
            <a:pPr algn="l">
              <a:lnSpc>
                <a:spcPts val="1100"/>
              </a:lnSpc>
              <a:spcAft>
                <a:spcPts val="200"/>
              </a:spcAft>
            </a:pPr>
            <a:r>
              <a:rPr sz="800" b="0">
                <a:latin typeface="Barlow"/>
              </a:rPr>
              <a:t>• VAR</a:t>
            </a:r>
          </a:p>
          <a:p>
            <a:pPr algn="l">
              <a:lnSpc>
                <a:spcPts val="1100"/>
              </a:lnSpc>
              <a:spcAft>
                <a:spcPts val="200"/>
              </a:spcAft>
            </a:pPr>
            <a:r>
              <a:rPr sz="800" b="0">
                <a:latin typeface="Barlow"/>
              </a:rPr>
              <a:t>• EAD</a:t>
            </a:r>
          </a:p>
          <a:p>
            <a:pPr algn="l">
              <a:lnSpc>
                <a:spcPts val="1100"/>
              </a:lnSpc>
              <a:spcAft>
                <a:spcPts val="200"/>
              </a:spcAft>
            </a:pPr>
            <a:r>
              <a:rPr sz="800" b="0">
                <a:latin typeface="Barlow"/>
              </a:rPr>
              <a:t>• RWA</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Statistical Modeling</a:t>
            </a:r>
          </a:p>
          <a:p>
            <a:pPr algn="l">
              <a:lnSpc>
                <a:spcPts val="1100"/>
              </a:lnSpc>
              <a:spcAft>
                <a:spcPts val="200"/>
              </a:spcAft>
            </a:pPr>
            <a:r>
              <a:rPr sz="800" b="0">
                <a:latin typeface="Barlow"/>
              </a:rPr>
              <a:t>• Lean Six Sigma</a:t>
            </a:r>
          </a:p>
          <a:p>
            <a:pPr algn="l">
              <a:lnSpc>
                <a:spcPts val="1100"/>
              </a:lnSpc>
              <a:spcAft>
                <a:spcPts val="200"/>
              </a:spcAft>
            </a:pPr>
            <a:r>
              <a:rPr sz="800" b="0">
                <a:latin typeface="Barlow"/>
              </a:rPr>
              <a:t>• Renewable Energy</a:t>
            </a:r>
          </a:p>
          <a:p>
            <a:pPr>
              <a:spcBef>
                <a:spcPts val="10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 &amp; Financial Services</a:t>
            </a:r>
          </a:p>
          <a:p>
            <a:pPr>
              <a:spcBef>
                <a:spcPts val="1000"/>
              </a:spcBef>
              <a:spcAft>
                <a:spcPts val="400"/>
              </a:spcAft>
            </a:pPr>
            <a:r>
              <a:rPr sz="900" b="1">
                <a:solidFill>
                  <a:srgbClr val="00ACC4"/>
                </a:solidFill>
                <a:latin typeface="Barlow"/>
              </a:rPr>
              <a:t>EDUCATION</a:t>
            </a:r>
          </a:p>
          <a:p>
            <a:pPr algn="l">
              <a:lnSpc>
                <a:spcPts val="1100"/>
              </a:lnSpc>
              <a:spcAft>
                <a:spcPts val="200"/>
              </a:spcAft>
            </a:pPr>
            <a:r>
              <a:rPr sz="800" b="0">
                <a:latin typeface="Barlow"/>
              </a:rPr>
              <a:t>• POST GRADUATE DIPLOMA IN MANAGEMENT (MBA)</a:t>
            </a:r>
          </a:p>
          <a:p>
            <a:pPr algn="l">
              <a:lnSpc>
                <a:spcPts val="1100"/>
              </a:lnSpc>
              <a:spcAft>
                <a:spcPts val="200"/>
              </a:spcAft>
            </a:pPr>
            <a:r>
              <a:rPr sz="800" b="0">
                <a:latin typeface="Barlow"/>
              </a:rPr>
              <a:t>• BACHELOR OF ENGINEERING</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Rishabh Chaturvedi has 9 years of experience as a Risk and Data Analyst specializing in Credit Risk and Regulatory Capital within the Banking and Financial Services industry.</a:t>
            </a:r>
            <a:r>
              <a:rPr sz="800" b="0">
                <a:latin typeface="Barlow"/>
              </a:rPr>
              <a:t> He leverages advanced Python, SQL, Power Query and Power BI to transform financial datasets into actionable risk models, exposure monitors and strategic dashboards. His portfolio includes credit risk profiling, delinquency tracking, market risk visualization, and development of risk analytics solutions for trading and treasury functions. He has led collaborations with underwriting, product, and technology teams to design scenario analyses, model performance tracking, and automated reporting pipelines. Additionally, he possesses strong expertise in regulatory frameworks such as Basel‑III/3.1, counter‑party risk metrics, VAR and EAD calculations, and has delivered risk insights to senior stakeholders.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000"/>
              </a:spcBef>
              <a:spcAft>
                <a:spcPts val="3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300"/>
              </a:spcBef>
              <a:spcAft>
                <a:spcPts val="50"/>
              </a:spcAft>
            </a:pPr>
            <a:r>
              <a:rPr b="1" sz="800">
                <a:latin typeface="Barlow"/>
              </a:rPr>
              <a:t>Private Sector Bank – Credit Risk Portfolio Monitoring – Risk and Data Analyst</a:t>
            </a:r>
          </a:p>
          <a:p>
            <a:pPr>
              <a:lnSpc>
                <a:spcPts val="950"/>
              </a:lnSpc>
              <a:spcBef>
                <a:spcPts val="100"/>
              </a:spcBef>
              <a:spcAft>
                <a:spcPts val="100"/>
              </a:spcAft>
            </a:pPr>
            <a:r>
              <a:rPr sz="800" b="0">
                <a:latin typeface="Barlow"/>
              </a:rPr>
              <a:t>• Developed analytical models to assess customer credit profiles, transaction patterns and bureau data, enabling proactive credit strategy adjustments.</a:t>
            </a:r>
          </a:p>
          <a:p>
            <a:pPr>
              <a:lnSpc>
                <a:spcPts val="1000"/>
              </a:lnSpc>
              <a:spcBef>
                <a:spcPts val="300"/>
              </a:spcBef>
              <a:spcAft>
                <a:spcPts val="50"/>
              </a:spcAft>
            </a:pPr>
            <a:r>
              <a:rPr b="1" sz="800">
                <a:latin typeface="Barlow"/>
              </a:rPr>
              <a:t>Private Sector Bank – Renewable Energy Trading – Risk Advisor</a:t>
            </a:r>
          </a:p>
          <a:p>
            <a:pPr>
              <a:lnSpc>
                <a:spcPts val="950"/>
              </a:lnSpc>
              <a:spcBef>
                <a:spcPts val="100"/>
              </a:spcBef>
              <a:spcAft>
                <a:spcPts val="100"/>
              </a:spcAft>
            </a:pPr>
            <a:r>
              <a:rPr sz="800" b="0">
                <a:latin typeface="Barlow"/>
              </a:rPr>
              <a:t>• Implemented market risk measurement frameworks and built interactive Power BI dashboards that visualized real‑time open positions, P&amp;L and key financial metrics for trading desks.</a:t>
            </a:r>
          </a:p>
          <a:p>
            <a:pPr>
              <a:lnSpc>
                <a:spcPts val="950"/>
              </a:lnSpc>
              <a:spcBef>
                <a:spcPts val="100"/>
              </a:spcBef>
              <a:spcAft>
                <a:spcPts val="100"/>
              </a:spcAft>
            </a:pPr>
            <a:r>
              <a:rPr sz="800" b="0">
                <a:latin typeface="Barlow"/>
              </a:rPr>
              <a:t>• Collaborated with trading teams to conduct forward‑looking analyses, optimizing hedging strategies and aligning exposures with the company’s risk tolerance thresholds.</a:t>
            </a:r>
          </a:p>
          <a:p>
            <a:pPr>
              <a:lnSpc>
                <a:spcPts val="1000"/>
              </a:lnSpc>
              <a:spcBef>
                <a:spcPts val="300"/>
              </a:spcBef>
              <a:spcAft>
                <a:spcPts val="50"/>
              </a:spcAft>
            </a:pPr>
            <a:r>
              <a:rPr b="1" sz="800">
                <a:latin typeface="Barlow"/>
              </a:rPr>
              <a:t>Private Sector Bank – Operational Risk Reporting – Business Operation Analyst</a:t>
            </a:r>
          </a:p>
          <a:p>
            <a:pPr>
              <a:lnSpc>
                <a:spcPts val="950"/>
              </a:lnSpc>
              <a:spcBef>
                <a:spcPts val="100"/>
              </a:spcBef>
              <a:spcAft>
                <a:spcPts val="100"/>
              </a:spcAft>
            </a:pPr>
            <a:r>
              <a:rPr sz="800" b="0">
                <a:latin typeface="Barlow"/>
              </a:rPr>
              <a:t>• Defined and documented standard operating procedures that streamlined credit and market risk report generation, improving data integrity and reducing processing time by 20%.</a:t>
            </a:r>
          </a:p>
          <a:p>
            <a:pPr>
              <a:lnSpc>
                <a:spcPts val="950"/>
              </a:lnSpc>
              <a:spcBef>
                <a:spcPts val="100"/>
              </a:spcBef>
              <a:spcAft>
                <a:spcPts val="100"/>
              </a:spcAft>
            </a:pPr>
            <a:r>
              <a:rPr sz="800" b="0">
                <a:latin typeface="Barlow"/>
              </a:rPr>
              <a:t>• Designed and delivered interactive dashboards using Power BI and SQL, translating stakeholder requirements into visual analytics that supported strategic business decisions.</a:t>
            </a:r>
          </a:p>
          <a:p>
            <a:pPr>
              <a:lnSpc>
                <a:spcPts val="1000"/>
              </a:lnSpc>
              <a:spcBef>
                <a:spcPts val="300"/>
              </a:spcBef>
              <a:spcAft>
                <a:spcPts val="50"/>
              </a:spcAft>
            </a:pPr>
            <a:r>
              <a:rPr b="1" sz="800">
                <a:latin typeface="Barlow"/>
              </a:rPr>
              <a:t>Private Sector Bank – Mortgage Lending – Credit Analyst</a:t>
            </a:r>
          </a:p>
          <a:p>
            <a:pPr>
              <a:lnSpc>
                <a:spcPts val="950"/>
              </a:lnSpc>
              <a:spcBef>
                <a:spcPts val="100"/>
              </a:spcBef>
              <a:spcAft>
                <a:spcPts val="100"/>
              </a:spcAft>
            </a:pPr>
            <a:r>
              <a:rPr sz="800" b="0">
                <a:latin typeface="Barlow"/>
              </a:rPr>
              <a:t>• Reviewed and analyzed US mortgage loan applications against FHA, FNMA and FHLMC guidelines, assessing credit scores, LTV ratios and property valuations to mitigate underwriting risk.</a:t>
            </a:r>
          </a:p>
          <a:p>
            <a:pPr>
              <a:lnSpc>
                <a:spcPts val="950"/>
              </a:lnSpc>
              <a:spcBef>
                <a:spcPts val="100"/>
              </a:spcBef>
              <a:spcAft>
                <a:spcPts val="100"/>
              </a:spcAft>
            </a:pPr>
            <a:r>
              <a:rPr sz="800" b="0">
                <a:latin typeface="Barlow"/>
              </a:rPr>
              <a:t>• Evaluated borrower income, assets and debt metrics using Encompass and Desktop Underwriter, generating comprehensive credit reports that informed loan approval decisions.</a:t>
            </a:r>
          </a:p>
          <a:p>
            <a:pPr>
              <a:lnSpc>
                <a:spcPts val="1000"/>
              </a:lnSpc>
              <a:spcBef>
                <a:spcPts val="300"/>
              </a:spcBef>
              <a:spcAft>
                <a:spcPts val="50"/>
              </a:spcAft>
            </a:pPr>
            <a:r>
              <a:rPr b="1" sz="800">
                <a:latin typeface="Barlow"/>
              </a:rPr>
              <a:t>Private Sector Bank – Personal Loan Credit Management – Associate Credit Manager</a:t>
            </a:r>
          </a:p>
          <a:p>
            <a:pPr>
              <a:lnSpc>
                <a:spcPts val="950"/>
              </a:lnSpc>
              <a:spcBef>
                <a:spcPts val="100"/>
              </a:spcBef>
              <a:spcAft>
                <a:spcPts val="100"/>
              </a:spcAft>
            </a:pPr>
            <a:r>
              <a:rPr sz="800" b="0">
                <a:latin typeface="Barlow"/>
              </a:rPr>
              <a:t>• Assessed personal loan proposals against credit policies and TAT standards, conducting data analysis and dashboard creation to improve loan processing efficiency.</a:t>
            </a:r>
          </a:p>
          <a:p>
            <a:pPr>
              <a:lnSpc>
                <a:spcPts val="950"/>
              </a:lnSpc>
              <a:spcBef>
                <a:spcPts val="100"/>
              </a:spcBef>
              <a:spcAft>
                <a:spcPts val="100"/>
              </a:spcAft>
            </a:pPr>
            <a:r>
              <a:rPr sz="800" b="0">
                <a:latin typeface="Barlow"/>
              </a:rPr>
              <a:t>• Managed external vendors and quasi‑underwriters, delivering training and performance monitoring that enhanced underwriting quality and reduced turnaround time.</a:t>
            </a:r>
          </a:p>
          <a:p>
            <a:pPr>
              <a:lnSpc>
                <a:spcPts val="1000"/>
              </a:lnSpc>
              <a:spcBef>
                <a:spcPts val="300"/>
              </a:spcBef>
              <a:spcAft>
                <a:spcPts val="50"/>
              </a:spcAft>
            </a:pPr>
            <a:r>
              <a:rPr b="1" sz="800">
                <a:latin typeface="Barlow"/>
              </a:rPr>
              <a:t>Private Sector Bank – Research Applications Development – Software Engineer</a:t>
            </a:r>
          </a:p>
          <a:p>
            <a:pPr>
              <a:lnSpc>
                <a:spcPts val="950"/>
              </a:lnSpc>
              <a:spcBef>
                <a:spcPts val="100"/>
              </a:spcBef>
              <a:spcAft>
                <a:spcPts val="100"/>
              </a:spcAft>
            </a:pPr>
            <a:r>
              <a:rPr sz="800" b="0">
                <a:latin typeface="Barlow"/>
              </a:rPr>
              <a:t>• Troubleshot and upgraded research application platforms, integrating third‑party APIs and ensuring stable Java and Python code deployments across server environments.</a:t>
            </a:r>
          </a:p>
          <a:p>
            <a:pPr>
              <a:lnSpc>
                <a:spcPts val="950"/>
              </a:lnSpc>
              <a:spcBef>
                <a:spcPts val="100"/>
              </a:spcBef>
              <a:spcAft>
                <a:spcPts val="100"/>
              </a:spcAft>
            </a:pPr>
            <a:r>
              <a:rPr sz="800" b="0">
                <a:latin typeface="Barlow"/>
              </a:rPr>
              <a:t>• Analyzed user interface and server issues, delivering compatible and efficient code solutions that improved application performance and user satisfaction.</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