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147481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84E53-E109-4512-BEFF-25386603050E}" v="11" dt="2026-07-31T04:48:38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A64A4-8F04-4D21-AE85-D21C24FFE365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DEDC6-57B9-4841-8E16-92778E2E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1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4BC8-1281-C19D-235A-60E677C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D470BD2E-7066-C909-CB27-AE3F66045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3C7FCB-DE82-E801-3860-D9A4BA9A724B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7B8F-F91E-BCD3-AA0F-E9E37F41737B}"/>
              </a:ext>
            </a:extLst>
          </p:cNvPr>
          <p:cNvSpPr txBox="1"/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cap="flat">
            <a:noFill/>
          </a:ln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CC7B1C-B014-45AA-9113-D5F76C866331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81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34A1-1FFD-08A9-06D7-AF30594B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230CD-156A-5322-7C6F-F1786ABF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5334-3D37-E4A0-9F87-3F994302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5B0E-6DF3-4C94-80B5-B344256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EA3B-0FB6-A10E-E397-57E67C95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9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0CD9-A699-2717-2440-DBE55388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42CF-765C-3B93-0198-85FD3B9F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2B66-9BB1-31B0-7258-2B2CD677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E8919-CC3D-40EB-0712-CA2C4E68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DF65-BF11-6907-B469-E87B23EE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74E6-9A26-2479-DDBE-99404932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FD20-3A4C-C5E4-49CF-5175CE1A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97AE-DEC5-B29C-1826-73420921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412C-37EB-0637-DC38-DC5DC588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ABED-CB0E-8552-F7F2-9A2B12AA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9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A923-E110-B6EA-5EC9-98103E7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67EC-A55A-1CCF-E6A3-61E172B2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F9E-5C5D-4FB1-56A8-AF44B1035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4F12B-DCBB-5FF2-AFEC-D4FA9E13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DA59-D6BC-37DF-42A0-1914F600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6C43A-2724-E4EB-B374-00BFE2B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55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665B-0C45-E569-5B45-1663469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F56B-0D8B-BDC9-7C34-509FB1B7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FD2B1-51F1-CACE-7E5A-397C2D14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F5EF-544A-F5E2-2189-FF39D610D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2E1F-8241-F6E6-6EAF-1B5A4A5B5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C2B24-FABF-4D40-4480-0C4006FC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A03A6-8A28-E7DE-0CAB-307860EE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9491C-6CD8-AC62-5824-73DF6ED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15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144D-69AA-7E53-2516-A3C0E26A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CE76F-E652-39CC-A926-61ABDE14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32CF3-06BC-565D-D3F0-22FDEB3B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5E833-C050-F55F-BC6B-EC80489E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01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0617-1D22-C81C-4B7A-50084077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5727-26BC-BC90-635E-CC4B22DF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CC1E-4342-A6B5-CD05-A51D2917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4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91EA-5818-3787-0FA2-E80B7E45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18D9-626D-7098-2499-B3F4AC5E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A300-833E-4681-E759-ED24A4C5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3D44-DC37-B14D-CEFB-13EDEBF1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B9F2-FDDD-D257-7A44-C93F869C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528D-F3C5-B55A-53DA-6A78F165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6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6AFF-E171-AC1E-127E-3D9A91B4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FACB-40AB-3A85-15F6-340B24D8B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DB6C-9BCC-DF84-4CF8-628B18BD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D1EC9-9C0F-BA50-E571-E14F0171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601D6-CD86-BBDF-C093-91865EEE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F24F-996D-EFC3-54BE-881CFEFE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1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971C-AA66-56E3-4CB5-BC0D2D77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85955-CB23-0E7C-6D92-908A34CB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4CE-69E1-2DC6-732D-ED52AB3A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F265E-B5E7-22FB-ADE8-6F17DD75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C371-A4B0-55E6-3F27-A60167CF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3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7F69E-D4D2-1140-BA86-C9AF6DCCA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E8BC8-C21D-E775-EA4C-1FAC1FE4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FACC-3AC4-95DA-DE9A-EC74E53E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A84A-BFD8-CF9A-06CA-8242879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0263-5572-CAB9-D489-6B13C5C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sume w/pictur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A blue rectangular object with black border&#10;&#10;Description automatically generated">
            <a:extLst>
              <a:ext uri="{FF2B5EF4-FFF2-40B4-BE49-F238E27FC236}">
                <a16:creationId xmlns:a16="http://schemas.microsoft.com/office/drawing/2014/main" id="{BA69870E-4E56-8C1E-6843-424EC437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9525"/>
            <a:ext cx="2681288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9CF2BB-74C1-A092-3F63-58C3BC5A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825" y="6413500"/>
            <a:ext cx="80962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231992"/>
            <a:ext cx="1990091" cy="446272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Title,</a:t>
            </a:r>
            <a:br>
              <a:rPr lang="en-GB"/>
            </a:br>
            <a:r>
              <a:rPr lang="en-GB"/>
              <a:t>Solution/Industry</a:t>
            </a:r>
            <a:endParaRPr lang="en-US"/>
          </a:p>
        </p:txBody>
      </p:sp>
      <p:sp>
        <p:nvSpPr>
          <p:cNvPr id="5" name="Picture Placeholder 23"/>
          <p:cNvSpPr txBox="1">
            <a:spLocks noGrp="1"/>
          </p:cNvSpPr>
          <p:nvPr>
            <p:ph type="pic" idx="4294967295"/>
          </p:nvPr>
        </p:nvSpPr>
        <p:spPr>
          <a:xfrm>
            <a:off x="590546" y="580579"/>
            <a:ext cx="1485150" cy="1485150"/>
          </a:xfrm>
          <a:solidFill>
            <a:srgbClr val="BDCAD7"/>
          </a:solidFill>
        </p:spPr>
        <p:txBody>
          <a:bodyPr rtlCol="0" anchorCtr="1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Insert headshot</a:t>
            </a: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590546" y="2192347"/>
            <a:ext cx="1990091" cy="990011"/>
          </a:xfrm>
        </p:spPr>
        <p:txBody>
          <a:bodyPr anchor="t">
            <a:normAutofit/>
          </a:bodyPr>
          <a:lstStyle>
            <a:lvl1pPr>
              <a:lnSpc>
                <a:spcPts val="3540"/>
              </a:lnSpc>
              <a:defRPr lang="en-GB">
                <a:solidFill>
                  <a:srgbClr val="FFFFFF"/>
                </a:solidFill>
                <a:latin typeface="Barlow Condensed Medium" pitchFamily="2"/>
              </a:defRPr>
            </a:lvl1pPr>
          </a:lstStyle>
          <a:p>
            <a:pPr lvl="0"/>
            <a:r>
              <a:rPr lang="en-GB"/>
              <a:t>Firstname</a:t>
            </a:r>
            <a:br>
              <a:rPr lang="en-GB"/>
            </a:br>
            <a:r>
              <a:rPr lang="en-GB"/>
              <a:t>Lastname</a:t>
            </a:r>
            <a:endParaRPr lang="en-US"/>
          </a:p>
        </p:txBody>
      </p:sp>
      <p:sp>
        <p:nvSpPr>
          <p:cNvPr id="8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861255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City</a:t>
            </a:r>
            <a:endParaRPr lang="en-US"/>
          </a:p>
        </p:txBody>
      </p:sp>
      <p:sp>
        <p:nvSpPr>
          <p:cNvPr id="9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330662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 b="1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CONTACT</a:t>
            </a:r>
            <a:endParaRPr lang="en-US"/>
          </a:p>
        </p:txBody>
      </p:sp>
      <p:sp>
        <p:nvSpPr>
          <p:cNvPr id="10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574624"/>
            <a:ext cx="1990091" cy="461662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P: +XX.XXX.XXXX</a:t>
            </a:r>
            <a:br>
              <a:rPr lang="en-GB"/>
            </a:br>
            <a:r>
              <a:rPr lang="en-GB"/>
              <a:t>C: +XX.XXX.XXXX</a:t>
            </a:r>
            <a:br>
              <a:rPr lang="en-GB"/>
            </a:br>
            <a:r>
              <a:rPr lang="en-GB"/>
              <a:t>xxxxx.xxxxx@protiviti.com</a:t>
            </a:r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22CAF5D-E2E0-1F88-E451-FD95F9CF491E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3082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75D67-FB95-4845-AD7B-4332D4B8AAEA}" type="slidenum">
              <a:rPr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1391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376B0-DC7E-575C-8CDF-FC2734BF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38B5D-C508-3D5C-1477-ECDCCF86B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568E-6B57-C903-D533-CE9E6F764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44A8-6140-DEC7-9BB2-6CBFCD7F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978A-8B25-4726-763A-580747A0E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7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9A09-563F-432E-D7D4-D043B28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8">
            <a:extLst>
              <a:ext uri="{FF2B5EF4-FFF2-40B4-BE49-F238E27FC236}">
                <a16:creationId xmlns:a16="http://schemas.microsoft.com/office/drawing/2014/main" id="{C45B6AD6-FBB8-0717-4A42-12712FC23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633" y="2241849"/>
            <a:ext cx="1990725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sz="3200" b="1">
                <a:latin typeface="Barlow"/>
              </a:rPr>
              <a:t>Many Projs Candidate</a:t>
            </a: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3" name="Text Placeholder 145">
            <a:extLst>
              <a:ext uri="{FF2B5EF4-FFF2-40B4-BE49-F238E27FC236}">
                <a16:creationId xmlns:a16="http://schemas.microsoft.com/office/drawing/2014/main" id="{2FC05A3F-88C0-49BF-338F-9F1260782657}"/>
              </a:ext>
            </a:extLst>
          </p:cNvPr>
          <p:cNvSpPr txBox="1"/>
          <p:nvPr/>
        </p:nvSpPr>
        <p:spPr>
          <a:xfrm>
            <a:off x="2927350" y="276225"/>
            <a:ext cx="1800225" cy="5232400"/>
          </a:xfrm>
          <a:prstGeom prst="rect">
            <a:avLst/>
          </a:prstGeom>
          <a:noFill/>
          <a:ln cap="flat">
            <a:noFill/>
          </a:ln>
        </p:spPr>
        <p:txBody>
          <a:bodyPr lIns="63500" tIns="63500" rIns="63500" bIns="63500"/>
          <a:lstStyle/>
          <a:p>
            <a:pPr marL="0" marR="0" lvl="2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900" b="1">
                <a:solidFill>
                  <a:srgbClr val="00ACC4"/>
                </a:solidFill>
                <a:latin typeface="Barlow"/>
              </a:rPr>
              <a:t>AREAS OF EXPERTISE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Basel III/3.1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Python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SQL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Excel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Data Modeling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IFRS-9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INDUSTRY EXPERTISE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Capital Markets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EDUCATION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Executive PG Diploma in Data Science</a:t>
            </a:r>
          </a:p>
        </p:txBody>
      </p:sp>
      <p:sp>
        <p:nvSpPr>
          <p:cNvPr id="4" name="Text Placeholder 144">
            <a:extLst>
              <a:ext uri="{FF2B5EF4-FFF2-40B4-BE49-F238E27FC236}">
                <a16:creationId xmlns:a16="http://schemas.microsoft.com/office/drawing/2014/main" id="{8D0EE6E6-4543-7AB0-F39E-8600E0291205}"/>
              </a:ext>
            </a:extLst>
          </p:cNvPr>
          <p:cNvSpPr txBox="1"/>
          <p:nvPr/>
        </p:nvSpPr>
        <p:spPr>
          <a:xfrm>
            <a:off x="4940300" y="276225"/>
            <a:ext cx="6854825" cy="5694363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 wrap="square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PROFESSIONAL EXPERIENCE</a:t>
            </a:r>
          </a:p>
          <a:p>
            <a:pPr lvl="0">
              <a:lnSpc>
                <a:spcPts val="1100"/>
              </a:lnSpc>
              <a:spcBef>
                <a:spcPts val="100"/>
              </a:spcBef>
              <a:spcAft>
                <a:spcPts val="200"/>
              </a:spcAft>
              <a:defRPr/>
            </a:pPr>
            <a:r>
              <a:t>Summary with Basel III/3.1 expertise.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  <a:p>
            <a:pPr lvl="0">
              <a:spcBef>
                <a:spcPts val="1200"/>
              </a:spcBef>
              <a:spcAft>
                <a:spcPts val="400"/>
              </a:spcAft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MAJOR PROJECTS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Credit Risk Model Development – Consultant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1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2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3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Credit Risk Model Development – Consultant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1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2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3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Credit Risk Model Development – Consultant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1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2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3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Credit Risk Model Development – Consultant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1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2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3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Credit Risk Model Development – Consultant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1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2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3</a:t>
            </a:r>
          </a:p>
        </p:txBody>
      </p:sp>
    </p:spTree>
    <p:extLst>
      <p:ext uri="{BB962C8B-B14F-4D97-AF65-F5344CB8AC3E}">
        <p14:creationId xmlns:p14="http://schemas.microsoft.com/office/powerpoint/2010/main" val="182803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  <clbl:label id="{da623df2-7a25-4a8f-b59b-3a3459c1375f}" enabled="1" method="Standard" siteId="{16532572-d567-4d67-8727-f12f7bb6aed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Barlow</vt:lpstr>
      <vt:lpstr>Barlow Condensed Medium</vt:lpstr>
      <vt:lpstr>Calibri</vt:lpstr>
      <vt:lpstr>Office Theme</vt:lpstr>
      <vt:lpstr>FirstName  LastName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2026-07-01T07:48:12Z</dcterms:created>
  <dcterms:modified xsi:type="dcterms:W3CDTF">2026-08-09T04:36:36Z</dcterms:modified>
</cp:coreProperties>
</file>