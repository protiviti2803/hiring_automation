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3"/>
  </p:notesMasterIdLst>
  <p:sldIdLst>
    <p:sldId id="2147481644"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784E53-E109-4512-BEFF-25386603050E}" v="11" dt="2026-07-31T04:48:38.6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90" d="100"/>
          <a:sy n="90" d="100"/>
        </p:scale>
        <p:origin x="48"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8A64A4-8F04-4D21-AE85-D21C24FFE365}" type="datetimeFigureOut">
              <a:rPr lang="en-GB" smtClean="0"/>
              <a:t>04/08/2026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4DEDC6-57B9-4841-8E16-92778E2EE4C3}" type="slidenum">
              <a:rPr lang="en-GB" smtClean="0"/>
              <a:t>‹#›</a:t>
            </a:fld>
            <a:endParaRPr lang="en-GB"/>
          </a:p>
        </p:txBody>
      </p:sp>
    </p:spTree>
    <p:extLst>
      <p:ext uri="{BB962C8B-B14F-4D97-AF65-F5344CB8AC3E}">
        <p14:creationId xmlns:p14="http://schemas.microsoft.com/office/powerpoint/2010/main" val="25323145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D4BC8-1281-C19D-235A-60E677C5EEF8}"/>
            </a:ext>
          </a:extLst>
        </p:cNvPr>
        <p:cNvGrpSpPr/>
        <p:nvPr/>
      </p:nvGrpSpPr>
      <p:grpSpPr>
        <a:xfrm>
          <a:off x="0" y="0"/>
          <a:ext cx="0" cy="0"/>
          <a:chOff x="0" y="0"/>
          <a:chExt cx="0" cy="0"/>
        </a:xfrm>
      </p:grpSpPr>
      <p:sp>
        <p:nvSpPr>
          <p:cNvPr id="8194" name="Slide Image Placeholder 1">
            <a:extLst>
              <a:ext uri="{FF2B5EF4-FFF2-40B4-BE49-F238E27FC236}">
                <a16:creationId xmlns:a16="http://schemas.microsoft.com/office/drawing/2014/main" id="{D470BD2E-7066-C909-CB27-AE3F6604595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GB"/>
          </a:p>
        </p:txBody>
      </p:sp>
      <p:sp>
        <p:nvSpPr>
          <p:cNvPr id="8195" name="Notes Placeholder 2">
            <a:extLst>
              <a:ext uri="{FF2B5EF4-FFF2-40B4-BE49-F238E27FC236}">
                <a16:creationId xmlns:a16="http://schemas.microsoft.com/office/drawing/2014/main" id="{AD3C7FCB-DE82-E801-3860-D9A4BA9A724B}"/>
              </a:ext>
            </a:extLst>
          </p:cNvPr>
          <p:cNvSpPr>
            <a:spLocks noGrp="1" noChangeArrowheads="1"/>
          </p:cNvSpPr>
          <p:nvPr>
            <p:ph type="body"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4" name="Slide Number Placeholder 3">
            <a:extLst>
              <a:ext uri="{FF2B5EF4-FFF2-40B4-BE49-F238E27FC236}">
                <a16:creationId xmlns:a16="http://schemas.microsoft.com/office/drawing/2014/main" id="{19547B8F-F91E-BCD3-AA0F-E9E37F41737B}"/>
              </a:ext>
            </a:extLst>
          </p:cNvPr>
          <p:cNvSpPr txBox="1"/>
          <p:nvPr/>
        </p:nvSpPr>
        <p:spPr>
          <a:xfrm>
            <a:off x="3884613" y="8685213"/>
            <a:ext cx="2971800" cy="458787"/>
          </a:xfrm>
          <a:prstGeom prst="rect">
            <a:avLst/>
          </a:prstGeom>
          <a:noFill/>
          <a:ln cap="flat">
            <a:noFill/>
          </a:ln>
        </p:spPr>
        <p:txBody>
          <a:bodyPr anchor="b"/>
          <a:lstStyle/>
          <a:p>
            <a:pPr marL="0" marR="0" lvl="0" indent="0" algn="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fld id="{BECC7B1C-B014-45AA-9113-D5F76C866331}" type="slidenum">
              <a:rPr kumimoji="0" sz="1800" b="0" i="0" u="none" strike="noStrike" kern="0" cap="none" spc="0" normalizeH="0" baseline="0" noProof="0">
                <a:ln>
                  <a:noFill/>
                </a:ln>
                <a:solidFill>
                  <a:srgbClr val="000000"/>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t>1</a:t>
            </a:fld>
            <a:endParaRPr kumimoji="0" lang="en-GB" sz="1200" b="0" i="0" u="none" strike="noStrike" kern="0" cap="none" spc="0" normalizeH="0" baseline="0" noProof="0">
              <a:ln>
                <a:noFill/>
              </a:ln>
              <a:solidFill>
                <a:srgbClr val="000000"/>
              </a:solidFill>
              <a:effectLst/>
              <a:uLnTx/>
              <a:uFillTx/>
              <a:latin typeface="Calibri"/>
              <a:ea typeface="+mn-ea"/>
              <a:cs typeface="+mn-cs"/>
            </a:endParaRPr>
          </a:p>
        </p:txBody>
      </p:sp>
    </p:spTree>
    <p:extLst>
      <p:ext uri="{BB962C8B-B14F-4D97-AF65-F5344CB8AC3E}">
        <p14:creationId xmlns:p14="http://schemas.microsoft.com/office/powerpoint/2010/main" val="3432481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A34A1-1FFD-08A9-06D7-AF30594B83F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AD1230CD-156A-5322-7C6F-F1786ABFBB0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5815334-3D37-E4A0-9F87-3F9943024EAD}"/>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241E5B0E-6DF3-4C94-80B5-B344256F84D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115EA3B-0FB6-A10E-E397-57E67C95D7E9}"/>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38540952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B0CD9-A699-2717-2440-DBE55388D81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77942CF-765C-3B93-0198-85FD3B9F3B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39B2B66-9BB1-31B0-7258-2B2CD677E0B2}"/>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5A1E8919-CC3D-40EB-0712-CA2C4E68E65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CE4DF65-BF11-6907-B469-E87B23EEAEC1}"/>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546695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774E6-9A26-2479-DDBE-99404932449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8E8FD20-3A4C-C5E4-49CF-5175CE1ACE6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7DE97AE-DEC5-B29C-1826-7342092146F2}"/>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4961412C-37EB-0637-DC38-DC5DC5882BC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3F9ABED-CB0E-8552-F7F2-9A2B12AA323E}"/>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42277907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EA923-E110-B6EA-5EC9-98103E77465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D3867EC-A55A-1CCF-E6A3-61E172B26EA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85972F9E-5C5D-4FB1-56A8-AF44B1035A4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FB4F12B-DCBB-5FF2-AFEC-D4FA9E136863}"/>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6" name="Footer Placeholder 5">
            <a:extLst>
              <a:ext uri="{FF2B5EF4-FFF2-40B4-BE49-F238E27FC236}">
                <a16:creationId xmlns:a16="http://schemas.microsoft.com/office/drawing/2014/main" id="{17C4DA59-D6BC-37DF-42A0-1914F600AF1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586C43A-2724-E4EB-B374-00BFE2BECC45}"/>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14255530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C665B-0C45-E569-5B45-1663469A027D}"/>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2DBF56B-0D8B-BDC9-7C34-509FB1B766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6FD2B1-51F1-CACE-7E5A-397C2D14DA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AF1F5EF-544A-F5E2-2189-FF39D610DC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DC2E1F-8241-F6E6-6EAF-1B5A4A5B5C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9DC2B24-FABF-4D40-4480-0C4006FC0B45}"/>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8" name="Footer Placeholder 7">
            <a:extLst>
              <a:ext uri="{FF2B5EF4-FFF2-40B4-BE49-F238E27FC236}">
                <a16:creationId xmlns:a16="http://schemas.microsoft.com/office/drawing/2014/main" id="{430A03A6-8A28-E7DE-0CAB-307860EE96E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1E9491C-6CD8-AC62-5824-73DF6ED51C4F}"/>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11071532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4144D-69AA-7E53-2516-A3C0E26AD9D6}"/>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201CE76F-E652-39CC-A926-61ABDE146F91}"/>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4" name="Footer Placeholder 3">
            <a:extLst>
              <a:ext uri="{FF2B5EF4-FFF2-40B4-BE49-F238E27FC236}">
                <a16:creationId xmlns:a16="http://schemas.microsoft.com/office/drawing/2014/main" id="{E6332CF3-06BC-565D-D3F0-22FDEB3BEC41}"/>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915E833-C050-F55F-BC6B-EC80489E02AA}"/>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16000117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DE0617-1D22-C81C-4B7A-5008407770E2}"/>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3" name="Footer Placeholder 2">
            <a:extLst>
              <a:ext uri="{FF2B5EF4-FFF2-40B4-BE49-F238E27FC236}">
                <a16:creationId xmlns:a16="http://schemas.microsoft.com/office/drawing/2014/main" id="{899C5727-26BC-BC90-635E-CC4B22DFAB22}"/>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EECCC1E-4342-A6B5-CD05-A51D2917B055}"/>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39944194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D91EA-5818-3787-0FA2-E80B7E4581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EF8818D9-626D-7098-2499-B3F4AC5EE6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D75A300-833E-4681-E759-ED24A4C552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0E3D44-DC37-B14D-CEFB-13EDEBF11D11}"/>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6" name="Footer Placeholder 5">
            <a:extLst>
              <a:ext uri="{FF2B5EF4-FFF2-40B4-BE49-F238E27FC236}">
                <a16:creationId xmlns:a16="http://schemas.microsoft.com/office/drawing/2014/main" id="{7227B9F2-FDDD-D257-7A44-C93F869C8C3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2F5528D-F3C5-B55A-53DA-6A78F1656BCD}"/>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22643679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66AFF-E171-AC1E-127E-3D9A91B43D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43FFACB-40AB-3A85-15F6-340B24D8B4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E98DB6C-9BCC-DF84-4CF8-628B18BDA9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FD1EC9-9C0F-BA50-E571-E14F0171D2A5}"/>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6" name="Footer Placeholder 5">
            <a:extLst>
              <a:ext uri="{FF2B5EF4-FFF2-40B4-BE49-F238E27FC236}">
                <a16:creationId xmlns:a16="http://schemas.microsoft.com/office/drawing/2014/main" id="{CD7601D6-CD86-BBDF-C093-91865EEE837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FB6F24F-996D-EFC3-54BE-881CFEFE8782}"/>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16508155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2971C-AA66-56E3-4CB5-BC0D2D77A1EA}"/>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E785955-CB23-0E7C-6D92-908A34CB632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5AC84CE-69E1-2DC6-732D-ED52AB3A2CFE}"/>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1D2F265E-B5E7-22FB-ADE8-6F17DD75268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07EC371-A4B0-55E6-3F27-A60167CF6235}"/>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2495235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17F69E-D4D2-1140-BA86-C9AF6DCCAFA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B6E8BC8-C21D-E775-EA4C-1FAC1FE487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C53FACC-3AC4-95DA-DE9A-EC74E53EE064}"/>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70C4A84A-BFD8-CF9A-06CA-8242879D47F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64B0263-5572-CAB9-D489-6B13C5C4588E}"/>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39876792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Resume w/picture map">
    <p:spTree>
      <p:nvGrpSpPr>
        <p:cNvPr id="1" name=""/>
        <p:cNvGrpSpPr/>
        <p:nvPr/>
      </p:nvGrpSpPr>
      <p:grpSpPr>
        <a:xfrm>
          <a:off x="0" y="0"/>
          <a:ext cx="0" cy="0"/>
          <a:chOff x="0" y="0"/>
          <a:chExt cx="0" cy="0"/>
        </a:xfrm>
      </p:grpSpPr>
      <p:pic>
        <p:nvPicPr>
          <p:cNvPr id="2" name="Picture 13" descr="A blue rectangular object with black border&#10;&#10;Description automatically generated">
            <a:extLst>
              <a:ext uri="{FF2B5EF4-FFF2-40B4-BE49-F238E27FC236}">
                <a16:creationId xmlns:a16="http://schemas.microsoft.com/office/drawing/2014/main" id="{BA69870E-4E56-8C1E-6843-424EC437D7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5" y="-9525"/>
            <a:ext cx="2681288" cy="689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8">
            <a:extLst>
              <a:ext uri="{FF2B5EF4-FFF2-40B4-BE49-F238E27FC236}">
                <a16:creationId xmlns:a16="http://schemas.microsoft.com/office/drawing/2014/main" id="{F19CF2BB-74C1-A092-3F63-58C3BC5AA0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1825" y="6413500"/>
            <a:ext cx="809625" cy="24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Placeholder 14"/>
          <p:cNvSpPr txBox="1">
            <a:spLocks noGrp="1"/>
          </p:cNvSpPr>
          <p:nvPr>
            <p:ph type="body" idx="4294967295"/>
          </p:nvPr>
        </p:nvSpPr>
        <p:spPr>
          <a:xfrm>
            <a:off x="590546" y="3231992"/>
            <a:ext cx="1990091" cy="446272"/>
          </a:xfrm>
        </p:spPr>
        <p:txBody>
          <a:bodyPr>
            <a:noAutofit/>
          </a:bodyPr>
          <a:lstStyle>
            <a:lvl1pPr marL="0" indent="0">
              <a:buNone/>
              <a:defRPr lang="en-GB" sz="1000">
                <a:solidFill>
                  <a:srgbClr val="FFFFFF"/>
                </a:solidFill>
                <a:latin typeface="Arial" pitchFamily="34"/>
                <a:cs typeface="Arial" pitchFamily="34"/>
              </a:defRPr>
            </a:lvl1pPr>
          </a:lstStyle>
          <a:p>
            <a:pPr lvl="0"/>
            <a:r>
              <a:rPr lang="en-GB"/>
              <a:t>Title,</a:t>
            </a:r>
            <a:br>
              <a:rPr lang="en-GB"/>
            </a:br>
            <a:r>
              <a:rPr lang="en-GB"/>
              <a:t>Solution/Industry</a:t>
            </a:r>
            <a:endParaRPr lang="en-US"/>
          </a:p>
        </p:txBody>
      </p:sp>
      <p:sp>
        <p:nvSpPr>
          <p:cNvPr id="5" name="Picture Placeholder 23"/>
          <p:cNvSpPr txBox="1">
            <a:spLocks noGrp="1"/>
          </p:cNvSpPr>
          <p:nvPr>
            <p:ph type="pic" idx="4294967295"/>
          </p:nvPr>
        </p:nvSpPr>
        <p:spPr>
          <a:xfrm>
            <a:off x="590546" y="580579"/>
            <a:ext cx="1485150" cy="1485150"/>
          </a:xfrm>
          <a:solidFill>
            <a:srgbClr val="BDCAD7"/>
          </a:solidFill>
        </p:spPr>
        <p:txBody>
          <a:bodyPr rtlCol="0" anchorCtr="1">
            <a:noAutofit/>
          </a:bodyPr>
          <a:lstStyle>
            <a:lvl1pPr marL="0" indent="0" algn="ctr">
              <a:buNone/>
              <a:defRPr sz="1200"/>
            </a:lvl1pPr>
          </a:lstStyle>
          <a:p>
            <a:pPr lvl="0"/>
            <a:r>
              <a:rPr lang="en-US" noProof="0"/>
              <a:t>Insert headshot</a:t>
            </a:r>
          </a:p>
        </p:txBody>
      </p:sp>
      <p:sp>
        <p:nvSpPr>
          <p:cNvPr id="7" name="Title 1"/>
          <p:cNvSpPr txBox="1">
            <a:spLocks noGrp="1"/>
          </p:cNvSpPr>
          <p:nvPr>
            <p:ph type="title"/>
          </p:nvPr>
        </p:nvSpPr>
        <p:spPr>
          <a:xfrm>
            <a:off x="590546" y="2192347"/>
            <a:ext cx="1990091" cy="990011"/>
          </a:xfrm>
        </p:spPr>
        <p:txBody>
          <a:bodyPr anchor="t">
            <a:normAutofit/>
          </a:bodyPr>
          <a:lstStyle>
            <a:lvl1pPr>
              <a:lnSpc>
                <a:spcPts val="3540"/>
              </a:lnSpc>
              <a:defRPr lang="en-GB">
                <a:solidFill>
                  <a:srgbClr val="FFFFFF"/>
                </a:solidFill>
                <a:latin typeface="Barlow Condensed Medium" pitchFamily="2"/>
              </a:defRPr>
            </a:lvl1pPr>
          </a:lstStyle>
          <a:p>
            <a:pPr lvl="0"/>
            <a:r>
              <a:rPr lang="en-GB"/>
              <a:t>Firstname</a:t>
            </a:r>
            <a:br>
              <a:rPr lang="en-GB"/>
            </a:br>
            <a:r>
              <a:rPr lang="en-GB"/>
              <a:t>Lastname</a:t>
            </a:r>
            <a:endParaRPr lang="en-US"/>
          </a:p>
        </p:txBody>
      </p:sp>
      <p:sp>
        <p:nvSpPr>
          <p:cNvPr id="8" name="Text Placeholder 14"/>
          <p:cNvSpPr txBox="1">
            <a:spLocks noGrp="1"/>
          </p:cNvSpPr>
          <p:nvPr>
            <p:ph type="body" idx="4294967295"/>
          </p:nvPr>
        </p:nvSpPr>
        <p:spPr>
          <a:xfrm>
            <a:off x="590546" y="3861255"/>
            <a:ext cx="1990091" cy="179807"/>
          </a:xfrm>
        </p:spPr>
        <p:txBody>
          <a:bodyPr>
            <a:noAutofit/>
          </a:bodyPr>
          <a:lstStyle>
            <a:lvl1pPr marL="0" indent="0">
              <a:buNone/>
              <a:defRPr lang="en-GB" sz="1000">
                <a:solidFill>
                  <a:srgbClr val="FFFFFF"/>
                </a:solidFill>
                <a:latin typeface="Arial" pitchFamily="34"/>
                <a:cs typeface="Arial" pitchFamily="34"/>
              </a:defRPr>
            </a:lvl1pPr>
          </a:lstStyle>
          <a:p>
            <a:pPr lvl="0"/>
            <a:r>
              <a:rPr lang="en-GB"/>
              <a:t>City</a:t>
            </a:r>
            <a:endParaRPr lang="en-US"/>
          </a:p>
        </p:txBody>
      </p:sp>
      <p:sp>
        <p:nvSpPr>
          <p:cNvPr id="9" name="Text Placeholder 14"/>
          <p:cNvSpPr txBox="1">
            <a:spLocks noGrp="1"/>
          </p:cNvSpPr>
          <p:nvPr>
            <p:ph type="body" idx="4294967295"/>
          </p:nvPr>
        </p:nvSpPr>
        <p:spPr>
          <a:xfrm>
            <a:off x="590546" y="4330662"/>
            <a:ext cx="1990091" cy="179807"/>
          </a:xfrm>
        </p:spPr>
        <p:txBody>
          <a:bodyPr>
            <a:noAutofit/>
          </a:bodyPr>
          <a:lstStyle>
            <a:lvl1pPr marL="0" indent="0">
              <a:buNone/>
              <a:defRPr lang="en-GB" sz="1000" b="1">
                <a:solidFill>
                  <a:srgbClr val="FFFFFF"/>
                </a:solidFill>
                <a:latin typeface="Arial" pitchFamily="34"/>
                <a:cs typeface="Arial" pitchFamily="34"/>
              </a:defRPr>
            </a:lvl1pPr>
          </a:lstStyle>
          <a:p>
            <a:pPr lvl="0"/>
            <a:r>
              <a:rPr lang="en-GB"/>
              <a:t>CONTACT</a:t>
            </a:r>
            <a:endParaRPr lang="en-US"/>
          </a:p>
        </p:txBody>
      </p:sp>
      <p:sp>
        <p:nvSpPr>
          <p:cNvPr id="10" name="Text Placeholder 14"/>
          <p:cNvSpPr txBox="1">
            <a:spLocks noGrp="1"/>
          </p:cNvSpPr>
          <p:nvPr>
            <p:ph type="body" idx="4294967295"/>
          </p:nvPr>
        </p:nvSpPr>
        <p:spPr>
          <a:xfrm>
            <a:off x="590546" y="4574624"/>
            <a:ext cx="1990091" cy="461662"/>
          </a:xfrm>
        </p:spPr>
        <p:txBody>
          <a:bodyPr>
            <a:normAutofit/>
          </a:bodyPr>
          <a:lstStyle>
            <a:lvl1pPr marL="0" indent="0">
              <a:spcAft>
                <a:spcPts val="0"/>
              </a:spcAft>
              <a:buNone/>
              <a:defRPr lang="en-GB" sz="1000">
                <a:solidFill>
                  <a:srgbClr val="FFFFFF"/>
                </a:solidFill>
                <a:latin typeface="Arial" pitchFamily="34"/>
                <a:cs typeface="Arial" pitchFamily="34"/>
              </a:defRPr>
            </a:lvl1pPr>
          </a:lstStyle>
          <a:p>
            <a:pPr lvl="0"/>
            <a:r>
              <a:rPr lang="en-GB"/>
              <a:t>P: +XX.XXX.XXXX</a:t>
            </a:r>
            <a:br>
              <a:rPr lang="en-GB"/>
            </a:br>
            <a:r>
              <a:rPr lang="en-GB"/>
              <a:t>C: +XX.XXX.XXXX</a:t>
            </a:r>
            <a:br>
              <a:rPr lang="en-GB"/>
            </a:br>
            <a:r>
              <a:rPr lang="en-GB"/>
              <a:t>xxxxx.xxxxx@protiviti.com</a:t>
            </a:r>
            <a:endParaRPr lang="en-US"/>
          </a:p>
        </p:txBody>
      </p:sp>
      <p:sp>
        <p:nvSpPr>
          <p:cNvPr id="6" name="Slide Number Placeholder 2">
            <a:extLst>
              <a:ext uri="{FF2B5EF4-FFF2-40B4-BE49-F238E27FC236}">
                <a16:creationId xmlns:a16="http://schemas.microsoft.com/office/drawing/2014/main" id="{522CAF5D-E2E0-1F88-E451-FD95F9CF491E}"/>
              </a:ext>
            </a:extLst>
          </p:cNvPr>
          <p:cNvSpPr txBox="1">
            <a:spLocks noGrp="1"/>
          </p:cNvSpPr>
          <p:nvPr>
            <p:ph type="sldNum" sz="quarter" idx="10"/>
          </p:nvPr>
        </p:nvSpPr>
        <p:spPr>
          <a:xfrm>
            <a:off x="3082925" y="6356350"/>
            <a:ext cx="2743200" cy="365125"/>
          </a:xfrm>
        </p:spPr>
        <p:txBody>
          <a:bodyPr/>
          <a:lstStyle>
            <a:lvl1pPr>
              <a:defRPr/>
            </a:lvl1pPr>
          </a:lstStyle>
          <a:p>
            <a:pPr>
              <a:defRPr/>
            </a:pPr>
            <a:fld id="{4F575D67-FB95-4845-AD7B-4332D4B8AAEA}" type="slidenum">
              <a:rPr/>
              <a:pPr>
                <a:defRPr/>
              </a:pPr>
              <a:t>‹#›</a:t>
            </a:fld>
            <a:endParaRPr lang="en-US"/>
          </a:p>
        </p:txBody>
      </p:sp>
    </p:spTree>
    <p:extLst>
      <p:ext uri="{BB962C8B-B14F-4D97-AF65-F5344CB8AC3E}">
        <p14:creationId xmlns:p14="http://schemas.microsoft.com/office/powerpoint/2010/main" val="3771971391"/>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3376B0-DC7E-575C-8CDF-FC2734BFDE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AA38B5D-C508-3D5C-1477-ECDCCF86BE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D9D568E-6B57-C903-D533-CE9E6F764D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02FE44A8-6140-DEC7-9BB2-6CBFCD7F75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E940978A-8B25-4726-763A-580747A0E8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5A10AC3-96BB-47F6-8ECD-DBB4AE484DD7}" type="slidenum">
              <a:rPr lang="en-GB" smtClean="0"/>
              <a:t>‹#›</a:t>
            </a:fld>
            <a:endParaRPr lang="en-GB"/>
          </a:p>
        </p:txBody>
      </p:sp>
    </p:spTree>
    <p:extLst>
      <p:ext uri="{BB962C8B-B14F-4D97-AF65-F5344CB8AC3E}">
        <p14:creationId xmlns:p14="http://schemas.microsoft.com/office/powerpoint/2010/main" val="12867065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B9A09-563F-432E-D7D4-D043B28F6293}"/>
            </a:ext>
          </a:extLst>
        </p:cNvPr>
        <p:cNvGrpSpPr/>
        <p:nvPr/>
      </p:nvGrpSpPr>
      <p:grpSpPr>
        <a:xfrm>
          <a:off x="0" y="0"/>
          <a:ext cx="0" cy="0"/>
          <a:chOff x="0" y="0"/>
          <a:chExt cx="0" cy="0"/>
        </a:xfrm>
      </p:grpSpPr>
      <p:sp>
        <p:nvSpPr>
          <p:cNvPr id="2" name="Title 138">
            <a:extLst>
              <a:ext uri="{FF2B5EF4-FFF2-40B4-BE49-F238E27FC236}">
                <a16:creationId xmlns:a16="http://schemas.microsoft.com/office/drawing/2014/main" id="{C45B6AD6-FBB8-0717-4A42-12712FC2351A}"/>
              </a:ext>
            </a:extLst>
          </p:cNvPr>
          <p:cNvSpPr txBox="1">
            <a:spLocks noGrp="1"/>
          </p:cNvSpPr>
          <p:nvPr>
            <p:ph type="title"/>
          </p:nvPr>
        </p:nvSpPr>
        <p:spPr>
          <a:xfrm>
            <a:off x="448633" y="2241849"/>
            <a:ext cx="1990725" cy="990600"/>
          </a:xfrm>
        </p:spPr>
        <p:txBody>
          <a:bodyPr rtlCol="0">
            <a:normAutofit fontScale="90000"/>
          </a:bodyPr>
          <a:lstStyle/>
          <a:p>
            <a:pPr>
              <a:defRPr/>
            </a:pPr>
            <a:r>
              <a:rPr sz="3200" b="1">
                <a:latin typeface="Barlow"/>
              </a:rPr>
              <a:t>Mohit Choudhary</a:t>
            </a:r>
            <a:endParaRPr lang="en-US" dirty="0">
              <a:latin typeface="Barlow" panose="00000500000000000000" pitchFamily="2" charset="0"/>
            </a:endParaRPr>
          </a:p>
        </p:txBody>
      </p:sp>
      <p:sp>
        <p:nvSpPr>
          <p:cNvPr id="3" name="Text Placeholder 145">
            <a:extLst>
              <a:ext uri="{FF2B5EF4-FFF2-40B4-BE49-F238E27FC236}">
                <a16:creationId xmlns:a16="http://schemas.microsoft.com/office/drawing/2014/main" id="{2FC05A3F-88C0-49BF-338F-9F1260782657}"/>
              </a:ext>
            </a:extLst>
          </p:cNvPr>
          <p:cNvSpPr txBox="1"/>
          <p:nvPr/>
        </p:nvSpPr>
        <p:spPr>
          <a:xfrm>
            <a:off x="2927350" y="182880"/>
            <a:ext cx="1800225" cy="5232400"/>
          </a:xfrm>
          <a:prstGeom prst="rect">
            <a:avLst/>
          </a:prstGeom>
          <a:noFill/>
          <a:ln cap="flat">
            <a:noFill/>
          </a:ln>
        </p:spPr>
        <p:txBody>
          <a:bodyPr lIns="63500" tIns="63500" rIns="63500" bIns="63500"/>
          <a:lstStyle/>
          <a:p>
            <a:pPr marL="0" marR="0" lvl="2" indent="0" algn="l" defTabSz="914354" rtl="0" eaLnBrk="1" fontAlgn="auto" latinLnBrk="0" hangingPunct="1">
              <a:lnSpc>
                <a:spcPct val="100000"/>
              </a:lnSpc>
              <a:spcBef>
                <a:spcPts val="0"/>
              </a:spcBef>
              <a:spcAft>
                <a:spcPts val="400"/>
              </a:spcAft>
              <a:buClrTx/>
              <a:buSzTx/>
              <a:buFontTx/>
              <a:buNone/>
              <a:tabLst/>
              <a:defRPr sz="1800" b="0" i="0" u="none" strike="noStrike" kern="0" cap="none" spc="0" baseline="0">
                <a:solidFill>
                  <a:srgbClr val="000000"/>
                </a:solidFill>
                <a:uFillTx/>
              </a:defRPr>
            </a:pPr>
            <a:r>
              <a:rPr sz="900" b="1">
                <a:solidFill>
                  <a:srgbClr val="00ACC4"/>
                </a:solidFill>
                <a:latin typeface="Barlow"/>
              </a:rPr>
              <a:t>AREAS OF EXPERTISE</a:t>
            </a:r>
          </a:p>
          <a:p>
            <a:pPr algn="l">
              <a:lnSpc>
                <a:spcPts val="1200"/>
              </a:lnSpc>
              <a:spcAft>
                <a:spcPts val="200"/>
              </a:spcAft>
            </a:pPr>
            <a:r>
              <a:rPr sz="900" b="0">
                <a:latin typeface="Barlow"/>
              </a:rPr>
              <a:t>• Finacle-7/10/11</a:t>
            </a:r>
          </a:p>
          <a:p>
            <a:pPr algn="l">
              <a:lnSpc>
                <a:spcPts val="1200"/>
              </a:lnSpc>
              <a:spcAft>
                <a:spcPts val="200"/>
              </a:spcAft>
            </a:pPr>
            <a:r>
              <a:rPr sz="900" b="0">
                <a:latin typeface="Barlow"/>
              </a:rPr>
              <a:t>• Credit Risk</a:t>
            </a:r>
          </a:p>
          <a:p>
            <a:pPr algn="l">
              <a:lnSpc>
                <a:spcPts val="1200"/>
              </a:lnSpc>
              <a:spcAft>
                <a:spcPts val="200"/>
              </a:spcAft>
            </a:pPr>
            <a:r>
              <a:rPr sz="900" b="0">
                <a:latin typeface="Barlow"/>
              </a:rPr>
              <a:t>• Basel-III/3.1</a:t>
            </a:r>
          </a:p>
          <a:p>
            <a:pPr algn="l">
              <a:lnSpc>
                <a:spcPts val="1200"/>
              </a:lnSpc>
              <a:spcAft>
                <a:spcPts val="200"/>
              </a:spcAft>
            </a:pPr>
            <a:r>
              <a:rPr sz="900" b="0">
                <a:latin typeface="Barlow"/>
              </a:rPr>
              <a:t>• RWA</a:t>
            </a:r>
          </a:p>
          <a:p>
            <a:pPr algn="l">
              <a:lnSpc>
                <a:spcPts val="1200"/>
              </a:lnSpc>
              <a:spcAft>
                <a:spcPts val="200"/>
              </a:spcAft>
            </a:pPr>
            <a:r>
              <a:rPr sz="900" b="0">
                <a:latin typeface="Barlow"/>
              </a:rPr>
              <a:t>• ECL</a:t>
            </a:r>
          </a:p>
          <a:p>
            <a:pPr algn="l">
              <a:lnSpc>
                <a:spcPts val="1200"/>
              </a:lnSpc>
              <a:spcAft>
                <a:spcPts val="200"/>
              </a:spcAft>
            </a:pPr>
            <a:r>
              <a:rPr sz="900" b="0">
                <a:latin typeface="Barlow"/>
              </a:rPr>
              <a:t>• PD</a:t>
            </a:r>
          </a:p>
          <a:p>
            <a:pPr algn="l">
              <a:lnSpc>
                <a:spcPts val="1200"/>
              </a:lnSpc>
              <a:spcAft>
                <a:spcPts val="200"/>
              </a:spcAft>
            </a:pPr>
            <a:r>
              <a:rPr sz="900" b="0">
                <a:latin typeface="Barlow"/>
              </a:rPr>
              <a:t>• LGD</a:t>
            </a:r>
          </a:p>
          <a:p>
            <a:pPr algn="l">
              <a:lnSpc>
                <a:spcPts val="1200"/>
              </a:lnSpc>
              <a:spcAft>
                <a:spcPts val="200"/>
              </a:spcAft>
            </a:pPr>
            <a:r>
              <a:rPr sz="900" b="0">
                <a:latin typeface="Barlow"/>
              </a:rPr>
              <a:t>• AML</a:t>
            </a:r>
          </a:p>
          <a:p>
            <a:pPr algn="l">
              <a:lnSpc>
                <a:spcPts val="1200"/>
              </a:lnSpc>
              <a:spcAft>
                <a:spcPts val="200"/>
              </a:spcAft>
            </a:pPr>
            <a:r>
              <a:rPr sz="900" b="0">
                <a:latin typeface="Barlow"/>
              </a:rPr>
              <a:t>• MS-Excel</a:t>
            </a:r>
          </a:p>
          <a:p>
            <a:pPr algn="l">
              <a:lnSpc>
                <a:spcPts val="1200"/>
              </a:lnSpc>
              <a:spcAft>
                <a:spcPts val="200"/>
              </a:spcAft>
            </a:pPr>
            <a:r>
              <a:rPr sz="900" b="0">
                <a:latin typeface="Barlow"/>
              </a:rPr>
              <a:t>• Data Modeling</a:t>
            </a:r>
          </a:p>
          <a:p>
            <a:pPr algn="l">
              <a:lnSpc>
                <a:spcPts val="1200"/>
              </a:lnSpc>
              <a:spcAft>
                <a:spcPts val="200"/>
              </a:spcAft>
            </a:pPr>
            <a:r>
              <a:rPr sz="900" b="0">
                <a:latin typeface="Barlow"/>
              </a:rPr>
              <a:t>• Business Analysis</a:t>
            </a:r>
          </a:p>
          <a:p>
            <a:pPr algn="l">
              <a:lnSpc>
                <a:spcPts val="1200"/>
              </a:lnSpc>
              <a:spcAft>
                <a:spcPts val="200"/>
              </a:spcAft>
            </a:pPr>
            <a:r>
              <a:rPr sz="900" b="0">
                <a:latin typeface="Barlow"/>
              </a:rPr>
              <a:t>• UAT</a:t>
            </a:r>
          </a:p>
          <a:p>
            <a:pPr algn="l">
              <a:lnSpc>
                <a:spcPts val="1200"/>
              </a:lnSpc>
              <a:spcAft>
                <a:spcPts val="200"/>
              </a:spcAft>
            </a:pPr>
            <a:r>
              <a:rPr sz="900" b="0">
                <a:latin typeface="Barlow"/>
              </a:rPr>
              <a:t>• BRD</a:t>
            </a:r>
          </a:p>
          <a:p>
            <a:pPr algn="l">
              <a:lnSpc>
                <a:spcPts val="1200"/>
              </a:lnSpc>
              <a:spcAft>
                <a:spcPts val="200"/>
              </a:spcAft>
            </a:pPr>
            <a:r>
              <a:rPr sz="900" b="0">
                <a:latin typeface="Barlow"/>
              </a:rPr>
              <a:t>• FRD</a:t>
            </a:r>
          </a:p>
          <a:p>
            <a:pPr algn="l">
              <a:lnSpc>
                <a:spcPts val="1200"/>
              </a:lnSpc>
              <a:spcAft>
                <a:spcPts val="200"/>
              </a:spcAft>
            </a:pPr>
            <a:r>
              <a:rPr sz="900" b="0">
                <a:latin typeface="Barlow"/>
              </a:rPr>
              <a:t>• Process Mapping</a:t>
            </a:r>
          </a:p>
          <a:p>
            <a:pPr algn="l">
              <a:lnSpc>
                <a:spcPts val="1200"/>
              </a:lnSpc>
              <a:spcAft>
                <a:spcPts val="200"/>
              </a:spcAft>
            </a:pPr>
            <a:r>
              <a:rPr sz="900" b="0">
                <a:latin typeface="Barlow"/>
              </a:rPr>
              <a:t>• AS-IS/TO-BE</a:t>
            </a:r>
          </a:p>
          <a:p>
            <a:pPr algn="l">
              <a:lnSpc>
                <a:spcPts val="1200"/>
              </a:lnSpc>
              <a:spcAft>
                <a:spcPts val="200"/>
              </a:spcAft>
            </a:pPr>
            <a:r>
              <a:rPr sz="900" b="0">
                <a:latin typeface="Barlow"/>
              </a:rPr>
              <a:t>• Risk Management</a:t>
            </a:r>
          </a:p>
          <a:p>
            <a:pPr algn="l">
              <a:lnSpc>
                <a:spcPts val="1200"/>
              </a:lnSpc>
              <a:spcAft>
                <a:spcPts val="200"/>
              </a:spcAft>
            </a:pPr>
            <a:r>
              <a:rPr sz="900" b="0">
                <a:latin typeface="Barlow"/>
              </a:rPr>
              <a:t>• Regulatory Reporting</a:t>
            </a:r>
          </a:p>
          <a:p>
            <a:pPr algn="l">
              <a:lnSpc>
                <a:spcPts val="1200"/>
              </a:lnSpc>
              <a:spcAft>
                <a:spcPts val="200"/>
              </a:spcAft>
            </a:pPr>
            <a:r>
              <a:rPr sz="900" b="0">
                <a:latin typeface="Barlow"/>
              </a:rPr>
              <a:t>• UCP-600</a:t>
            </a:r>
          </a:p>
          <a:p>
            <a:pPr algn="l">
              <a:lnSpc>
                <a:spcPts val="1200"/>
              </a:lnSpc>
              <a:spcAft>
                <a:spcPts val="200"/>
              </a:spcAft>
            </a:pPr>
            <a:r>
              <a:rPr sz="900" b="0">
                <a:latin typeface="Barlow"/>
              </a:rPr>
              <a:t>• URDG-758</a:t>
            </a:r>
          </a:p>
          <a:p>
            <a:pPr>
              <a:spcBef>
                <a:spcPts val="1200"/>
              </a:spcBef>
              <a:spcAft>
                <a:spcPts val="400"/>
              </a:spcAft>
            </a:pPr>
            <a:r>
              <a:rPr sz="900" b="1">
                <a:solidFill>
                  <a:srgbClr val="00ACC4"/>
                </a:solidFill>
                <a:latin typeface="Barlow"/>
              </a:rPr>
              <a:t>INDUSTRY EXPERTISE</a:t>
            </a:r>
          </a:p>
          <a:p>
            <a:pPr algn="l">
              <a:lnSpc>
                <a:spcPts val="1200"/>
              </a:lnSpc>
              <a:spcAft>
                <a:spcPts val="200"/>
              </a:spcAft>
            </a:pPr>
            <a:r>
              <a:rPr sz="900" b="0">
                <a:latin typeface="Barlow"/>
              </a:rPr>
              <a:t>• Credit Risk Management</a:t>
            </a:r>
          </a:p>
          <a:p>
            <a:pPr algn="l">
              <a:lnSpc>
                <a:spcPts val="1200"/>
              </a:lnSpc>
              <a:spcAft>
                <a:spcPts val="200"/>
              </a:spcAft>
            </a:pPr>
            <a:r>
              <a:rPr sz="900" b="0">
                <a:latin typeface="Barlow"/>
              </a:rPr>
              <a:t>• Regulatory Capital &amp; Basel Compliance</a:t>
            </a:r>
          </a:p>
          <a:p>
            <a:pPr algn="l">
              <a:lnSpc>
                <a:spcPts val="1200"/>
              </a:lnSpc>
              <a:spcAft>
                <a:spcPts val="200"/>
              </a:spcAft>
            </a:pPr>
            <a:r>
              <a:rPr sz="900" b="0">
                <a:latin typeface="Barlow"/>
              </a:rPr>
              <a:t>• Core Banking Systems</a:t>
            </a:r>
          </a:p>
          <a:p>
            <a:pPr algn="l">
              <a:lnSpc>
                <a:spcPts val="1200"/>
              </a:lnSpc>
              <a:spcAft>
                <a:spcPts val="200"/>
              </a:spcAft>
            </a:pPr>
            <a:r>
              <a:rPr sz="900" b="0">
                <a:latin typeface="Barlow"/>
              </a:rPr>
              <a:t>• Financial Risk Analytics</a:t>
            </a:r>
          </a:p>
          <a:p>
            <a:pPr>
              <a:spcBef>
                <a:spcPts val="1200"/>
              </a:spcBef>
              <a:spcAft>
                <a:spcPts val="400"/>
              </a:spcAft>
            </a:pPr>
            <a:r>
              <a:rPr sz="900" b="1">
                <a:solidFill>
                  <a:srgbClr val="00ACC4"/>
                </a:solidFill>
                <a:latin typeface="Barlow"/>
              </a:rPr>
              <a:t>EDUCATION</a:t>
            </a:r>
          </a:p>
          <a:p>
            <a:pPr algn="l">
              <a:lnSpc>
                <a:spcPts val="1200"/>
              </a:lnSpc>
              <a:spcAft>
                <a:spcPts val="200"/>
              </a:spcAft>
            </a:pPr>
            <a:r>
              <a:rPr sz="900" b="0">
                <a:latin typeface="Barlow"/>
              </a:rPr>
              <a:t>• Post Graduate Diploma in Banking (PGDB)/ MBA | ICICI Manipal University, Bengaluru 2016</a:t>
            </a:r>
          </a:p>
          <a:p>
            <a:pPr algn="l">
              <a:lnSpc>
                <a:spcPts val="1200"/>
              </a:lnSpc>
              <a:spcAft>
                <a:spcPts val="200"/>
              </a:spcAft>
            </a:pPr>
            <a:r>
              <a:rPr sz="900" b="0">
                <a:latin typeface="Barlow"/>
              </a:rPr>
              <a:t>• B.Tech (Bachelor of Technology) | Indraprastha Engineering College, UPTU | Graduated: 2013</a:t>
            </a:r>
          </a:p>
        </p:txBody>
      </p:sp>
      <p:sp>
        <p:nvSpPr>
          <p:cNvPr id="4" name="Text Placeholder 144">
            <a:extLst>
              <a:ext uri="{FF2B5EF4-FFF2-40B4-BE49-F238E27FC236}">
                <a16:creationId xmlns:a16="http://schemas.microsoft.com/office/drawing/2014/main" id="{8D0EE6E6-4543-7AB0-F39E-8600E0291205}"/>
              </a:ext>
            </a:extLst>
          </p:cNvPr>
          <p:cNvSpPr txBox="1"/>
          <p:nvPr/>
        </p:nvSpPr>
        <p:spPr>
          <a:xfrm>
            <a:off x="4940300" y="182880"/>
            <a:ext cx="6854825" cy="5694363"/>
          </a:xfrm>
          <a:prstGeom prst="rect">
            <a:avLst/>
          </a:prstGeom>
          <a:noFill/>
          <a:ln cap="flat">
            <a:noFill/>
          </a:ln>
        </p:spPr>
        <p:txBody>
          <a:bodyPr lIns="0" tIns="0" rIns="0" bIns="0" wrap="square"/>
          <a:lstStyle/>
          <a:p>
            <a:pPr marL="0" marR="0" lvl="0" indent="0" algn="l" defTabSz="914354" rtl="0" eaLnBrk="1" fontAlgn="auto" latinLnBrk="0" hangingPunct="1">
              <a:lnSpc>
                <a:spcPct val="100000"/>
              </a:lnSpc>
              <a:spcBef>
                <a:spcPts val="150"/>
              </a:spcBef>
              <a:spcAft>
                <a:spcPts val="150"/>
              </a:spcAft>
              <a:buClrTx/>
              <a:buSzTx/>
              <a:buFontTx/>
              <a:buNone/>
              <a:tabLst/>
              <a:defRPr sz="1800" b="0" i="0" u="none" strike="noStrike" kern="0" cap="none" spc="0" baseline="0">
                <a:solidFill>
                  <a:srgbClr val="000000"/>
                </a:solidFill>
                <a:uFillTx/>
              </a:defRPr>
            </a:pPr>
            <a:r>
              <a:rPr kumimoji="0" lang="en-GB" sz="900" b="1" i="0" u="none" strike="noStrike" kern="0" cap="none" spc="0" normalizeH="0" baseline="0" noProof="0" dirty="0">
                <a:ln>
                  <a:noFill/>
                </a:ln>
                <a:solidFill>
                  <a:srgbClr val="00ACC4"/>
                </a:solidFill>
                <a:effectLst/>
                <a:uLnTx/>
                <a:uFillTx/>
                <a:latin typeface="Barlow" panose="00000500000000000000" pitchFamily="2" charset="0"/>
                <a:cs typeface="Arial" pitchFamily="34"/>
              </a:rPr>
              <a:t>PROFESSIONAL EXPERIENCE</a:t>
            </a:r>
          </a:p>
          <a:p>
            <a:pPr lvl="0">
              <a:lnSpc>
                <a:spcPts val="1050"/>
              </a:lnSpc>
              <a:spcBef>
                <a:spcPts val="100"/>
              </a:spcBef>
              <a:spcAft>
                <a:spcPts val="200"/>
              </a:spcAft>
              <a:defRPr/>
            </a:pPr>
            <a:r>
              <a:rPr sz="900" b="1">
                <a:latin typeface="Barlow"/>
              </a:rPr>
              <a:t>Mohit Choudhary has 10 years of experience as a Senior Functional Consultant specializing in Credit Risk and Regulatory Capital within the Banking industry.</a:t>
            </a:r>
            <a:r>
              <a:rPr sz="900" b="0">
                <a:latin typeface="Barlow"/>
              </a:rPr>
              <a:t> He possesses deep expertise in core banking platforms, having performed end‑to‑end functional validation on Finacle 7, 10 and 11 across credit appraisal, drawing power calculations and asset evaluation processes. His skill set includes drafting comprehensive BRDs and FRDs, leading UAT cycles, conducting risk and compliance assessments such as PD, LGD, ECL, and mapping AS‑IS/TO‑BE workflows to drive operational efficiency. Mohit collaborates effectively with credit underwriters, risk officers, IT architects and global stakeholders, delivering data‑driven insights through advanced Excel modeling, KPI dashboards and regulatory reporting aligned with Basel III/3.1 standards.</a:t>
            </a:r>
            <a:endParaRPr kumimoji="0" lang="en-US" sz="900" i="0" u="none" strike="noStrike" kern="1200" cap="none" spc="0" normalizeH="0" baseline="0" noProof="0" dirty="0">
              <a:ln>
                <a:noFill/>
              </a:ln>
              <a:solidFill>
                <a:srgbClr val="00ACC4"/>
              </a:solidFill>
              <a:effectLst/>
              <a:uLnTx/>
              <a:uFillTx/>
              <a:latin typeface="Barlow" panose="00000500000000000000" pitchFamily="2" charset="0"/>
              <a:cs typeface="Arial" pitchFamily="34"/>
            </a:endParaRPr>
          </a:p>
          <a:p>
            <a:pPr lvl="0">
              <a:spcBef>
                <a:spcPts val="1200"/>
              </a:spcBef>
              <a:spcAft>
                <a:spcPts val="400"/>
              </a:spcAft>
              <a:defRPr/>
            </a:pPr>
            <a:r>
              <a:rPr kumimoji="0" lang="en-GB" sz="900" b="1" i="0" u="none" strike="noStrike" kern="1200" cap="none" spc="0" normalizeH="0" baseline="0" noProof="0" dirty="0">
                <a:ln>
                  <a:noFill/>
                </a:ln>
                <a:solidFill>
                  <a:srgbClr val="00ACC4"/>
                </a:solidFill>
                <a:effectLst/>
                <a:uLnTx/>
                <a:uFillTx/>
                <a:latin typeface="Barlow" panose="00000500000000000000" pitchFamily="2" charset="0"/>
                <a:cs typeface="Arial" pitchFamily="34"/>
              </a:rPr>
              <a:t>MAJOR PROJECTS</a:t>
            </a:r>
          </a:p>
          <a:p>
            <a:pPr>
              <a:lnSpc>
                <a:spcPts val="1050"/>
              </a:lnSpc>
              <a:spcBef>
                <a:spcPts val="200"/>
              </a:spcBef>
              <a:spcAft>
                <a:spcPts val="50"/>
              </a:spcAft>
            </a:pPr>
            <a:r>
              <a:rPr b="1" sz="900">
                <a:latin typeface="Barlow"/>
              </a:rPr>
              <a:t>Banking – Digital Lending Interface Optimization – Senior Manager – Functional Risk Analyst</a:t>
            </a:r>
          </a:p>
          <a:p>
            <a:pPr>
              <a:lnSpc>
                <a:spcPts val="1000"/>
              </a:lnSpc>
              <a:spcBef>
                <a:spcPts val="100"/>
              </a:spcBef>
              <a:spcAft>
                <a:spcPts val="80"/>
              </a:spcAft>
            </a:pPr>
            <a:r>
              <a:rPr sz="900" b="0">
                <a:latin typeface="Barlow"/>
              </a:rPr>
              <a:t>• Designed and documented comprehensive BRDs and FRDs to transform a single-page loan application into a multi-step guided wizard, improving user navigation and reducing drop‑out rates.</a:t>
            </a:r>
          </a:p>
          <a:p>
            <a:pPr>
              <a:lnSpc>
                <a:spcPts val="1050"/>
              </a:lnSpc>
              <a:spcBef>
                <a:spcPts val="200"/>
              </a:spcBef>
              <a:spcAft>
                <a:spcPts val="50"/>
              </a:spcAft>
            </a:pPr>
            <a:r>
              <a:rPr b="1" sz="900">
                <a:latin typeface="Barlow"/>
              </a:rPr>
              <a:t>Banking – Letter of Credit Compliance Validation Portal – Senior Manager – Functional Risk Analyst</a:t>
            </a:r>
          </a:p>
          <a:p>
            <a:pPr>
              <a:lnSpc>
                <a:spcPts val="1000"/>
              </a:lnSpc>
              <a:spcBef>
                <a:spcPts val="100"/>
              </a:spcBef>
              <a:spcAft>
                <a:spcPts val="80"/>
              </a:spcAft>
            </a:pPr>
            <a:r>
              <a:rPr sz="900" b="0">
                <a:latin typeface="Barlow"/>
              </a:rPr>
              <a:t>• Engineered testing logic within Finacle 11 to calculate day variance between shipment and presentation dates, automatically flagging transactions exceeding the 21‑day threshold.</a:t>
            </a:r>
          </a:p>
          <a:p>
            <a:pPr>
              <a:lnSpc>
                <a:spcPts val="1050"/>
              </a:lnSpc>
              <a:spcBef>
                <a:spcPts val="200"/>
              </a:spcBef>
              <a:spcAft>
                <a:spcPts val="50"/>
              </a:spcAft>
            </a:pPr>
            <a:r>
              <a:rPr b="1" sz="900">
                <a:latin typeface="Barlow"/>
              </a:rPr>
              <a:t>Banking – Overdraft Renewal Automation Platform – Senior Manager – Credit Risk &amp; Process Analyst</a:t>
            </a:r>
          </a:p>
          <a:p>
            <a:pPr>
              <a:lnSpc>
                <a:spcPts val="1000"/>
              </a:lnSpc>
              <a:spcBef>
                <a:spcPts val="100"/>
              </a:spcBef>
              <a:spcAft>
                <a:spcPts val="80"/>
              </a:spcAft>
            </a:pPr>
            <a:r>
              <a:rPr sz="900" b="0">
                <a:latin typeface="Barlow"/>
              </a:rPr>
              <a:t>• Mapped legacy 12‑day physical overdraft renewal workflow and designed an OCR‑driven digital process that cut turnaround time to 48 hours, enhancing customer experience.</a:t>
            </a:r>
          </a:p>
          <a:p>
            <a:pPr>
              <a:lnSpc>
                <a:spcPts val="1000"/>
              </a:lnSpc>
              <a:spcBef>
                <a:spcPts val="100"/>
              </a:spcBef>
              <a:spcAft>
                <a:spcPts val="80"/>
              </a:spcAft>
            </a:pPr>
            <a:r>
              <a:rPr sz="900" b="0">
                <a:latin typeface="Barlow"/>
              </a:rPr>
              <a:t>• Validated Business Rules Engine parameters in Finacle 10 to automatically bypass renewal for borrowers with &gt;20 % turnover decline, routing cases to manual underwriters for risk assessment.</a:t>
            </a:r>
          </a:p>
          <a:p>
            <a:pPr>
              <a:lnSpc>
                <a:spcPts val="1050"/>
              </a:lnSpc>
              <a:spcBef>
                <a:spcPts val="200"/>
              </a:spcBef>
              <a:spcAft>
                <a:spcPts val="50"/>
              </a:spcAft>
            </a:pPr>
            <a:r>
              <a:rPr b="1" sz="900">
                <a:latin typeface="Barlow"/>
              </a:rPr>
              <a:t>Banking – Credit Risk Scoring Engine Upgrade – Senior Manager – Credit Risk &amp; Process Analyst</a:t>
            </a:r>
          </a:p>
          <a:p>
            <a:pPr>
              <a:lnSpc>
                <a:spcPts val="1000"/>
              </a:lnSpc>
              <a:spcBef>
                <a:spcPts val="100"/>
              </a:spcBef>
              <a:spcAft>
                <a:spcPts val="80"/>
              </a:spcAft>
            </a:pPr>
            <a:r>
              <a:rPr sz="900" b="0">
                <a:latin typeface="Barlow"/>
              </a:rPr>
              <a:t>• Translated complex credit appraisal rules into functional logic strings that automated PD flagging for BBB‑rated borrowers, LGD matrix calculations with 25 % collateral haircuts, and ECL triggers for assets overdue beyond 90 days.</a:t>
            </a:r>
          </a:p>
          <a:p>
            <a:pPr>
              <a:lnSpc>
                <a:spcPts val="1000"/>
              </a:lnSpc>
              <a:spcBef>
                <a:spcPts val="100"/>
              </a:spcBef>
              <a:spcAft>
                <a:spcPts val="80"/>
              </a:spcAft>
            </a:pPr>
            <a:r>
              <a:rPr sz="900" b="0">
                <a:latin typeface="Barlow"/>
              </a:rPr>
              <a:t>• Integrated RWA and Basel calculations into the scoring engine, aligning outputs with regulatory capital requirements and supporting senior management reporting.</a:t>
            </a:r>
          </a:p>
          <a:p>
            <a:pPr>
              <a:lnSpc>
                <a:spcPts val="1050"/>
              </a:lnSpc>
              <a:spcBef>
                <a:spcPts val="200"/>
              </a:spcBef>
              <a:spcAft>
                <a:spcPts val="50"/>
              </a:spcAft>
            </a:pPr>
            <a:r>
              <a:rPr b="1" sz="900">
                <a:latin typeface="Barlow"/>
              </a:rPr>
              <a:t>Banking – Supply Chain Finance H2H Integration – Senior Manager – Credit Risk &amp; Process Analyst</a:t>
            </a:r>
          </a:p>
          <a:p>
            <a:pPr>
              <a:lnSpc>
                <a:spcPts val="1000"/>
              </a:lnSpc>
              <a:spcBef>
                <a:spcPts val="100"/>
              </a:spcBef>
              <a:spcAft>
                <a:spcPts val="80"/>
              </a:spcAft>
            </a:pPr>
            <a:r>
              <a:rPr sz="900" b="0">
                <a:latin typeface="Barlow"/>
              </a:rPr>
              <a:t>• Designed functional end‑to‑end testing plans for a secure H2H API that connected corporate ERP systems directly to core banking, enabling instant invoice discounting.</a:t>
            </a:r>
          </a:p>
          <a:p>
            <a:pPr>
              <a:lnSpc>
                <a:spcPts val="1000"/>
              </a:lnSpc>
              <a:spcBef>
                <a:spcPts val="100"/>
              </a:spcBef>
              <a:spcAft>
                <a:spcPts val="80"/>
              </a:spcAft>
            </a:pPr>
            <a:r>
              <a:rPr sz="900" b="0">
                <a:latin typeface="Barlow"/>
              </a:rPr>
              <a:t>• Executed data batch testing with intentionally corrupted IFSC fields, identified processing errors, logged defects, and coordinated remediation to achieve successful UAT sign‑off.</a:t>
            </a:r>
          </a:p>
          <a:p>
            <a:pPr>
              <a:lnSpc>
                <a:spcPts val="1050"/>
              </a:lnSpc>
              <a:spcBef>
                <a:spcPts val="200"/>
              </a:spcBef>
              <a:spcAft>
                <a:spcPts val="50"/>
              </a:spcAft>
            </a:pPr>
            <a:r>
              <a:rPr b="1" sz="900">
                <a:latin typeface="Barlow"/>
              </a:rPr>
              <a:t>Banking – Early Warning Signal Dashboard – Senior Manager – Business Banking Asset Analyst</a:t>
            </a:r>
          </a:p>
          <a:p>
            <a:pPr>
              <a:lnSpc>
                <a:spcPts val="1000"/>
              </a:lnSpc>
              <a:spcBef>
                <a:spcPts val="100"/>
              </a:spcBef>
              <a:spcAft>
                <a:spcPts val="80"/>
              </a:spcAft>
            </a:pPr>
            <a:r>
              <a:rPr sz="900" b="0">
                <a:latin typeface="Barlow"/>
              </a:rPr>
              <a:t>• Developed an early warning signal dashboard that aggregated live transaction data to identify stressed credit profiles, triggering automated alerts when fund‑insufficient checks exceeded three per month.</a:t>
            </a:r>
          </a:p>
          <a:p>
            <a:pPr>
              <a:lnSpc>
                <a:spcPts val="1000"/>
              </a:lnSpc>
              <a:spcBef>
                <a:spcPts val="100"/>
              </a:spcBef>
              <a:spcAft>
                <a:spcPts val="80"/>
              </a:spcAft>
            </a:pPr>
            <a:r>
              <a:rPr sz="900" b="0">
                <a:latin typeface="Barlow"/>
              </a:rPr>
              <a:t>• Authored comprehensive test scenarios based on credit policy rules, validating system behavior to lock draw‑downs for customers with inventory drops over 25 % during quarterly audits.</a:t>
            </a:r>
          </a:p>
        </p:txBody>
      </p:sp>
    </p:spTree>
    <p:extLst>
      <p:ext uri="{BB962C8B-B14F-4D97-AF65-F5344CB8AC3E}">
        <p14:creationId xmlns:p14="http://schemas.microsoft.com/office/powerpoint/2010/main" val="18280369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a9d90964-91d3-4c01-ab00-563f95f00a38}" enabled="0" method="" siteId="{a9d90964-91d3-4c01-ab00-563f95f00a38}" removed="1"/>
  <clbl:label id="{da623df2-7a25-4a8f-b59b-3a3459c1375f}" enabled="1" method="Standard" siteId="{16532572-d567-4d67-8727-f12f7bb6aed3}" removed="0"/>
</clbl:labelList>
</file>

<file path=docProps/app.xml><?xml version="1.0" encoding="utf-8"?>
<Properties xmlns="http://schemas.openxmlformats.org/officeDocument/2006/extended-properties" xmlns:vt="http://schemas.openxmlformats.org/officeDocument/2006/docPropsVTypes">
  <TotalTime>0</TotalTime>
  <Words>702</Words>
  <Application>Microsoft Office PowerPoint</Application>
  <PresentationFormat>Widescreen</PresentationFormat>
  <Paragraphs>24</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Aptos</vt:lpstr>
      <vt:lpstr>Aptos Display</vt:lpstr>
      <vt:lpstr>Arial</vt:lpstr>
      <vt:lpstr>Barlow</vt:lpstr>
      <vt:lpstr>Barlow Condensed Medium</vt:lpstr>
      <vt:lpstr>Calibri</vt:lpstr>
      <vt:lpstr>Office Theme</vt:lpstr>
      <vt:lpstr>FirstName  LastName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2026-07-01T07:48:12Z</dcterms:created>
  <dcterms:modified xsi:type="dcterms:W3CDTF">2026-08-09T04:36:36Z</dcterms:modified>
</cp:coreProperties>
</file>