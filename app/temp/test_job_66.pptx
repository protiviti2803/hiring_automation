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Mohit Choudhary</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Finacle-7/10/11</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Basel-III/3.1</a:t>
            </a:r>
          </a:p>
          <a:p>
            <a:pPr algn="l">
              <a:lnSpc>
                <a:spcPts val="1100"/>
              </a:lnSpc>
              <a:spcAft>
                <a:spcPts val="200"/>
              </a:spcAft>
            </a:pPr>
            <a:r>
              <a:rPr sz="800" b="0">
                <a:latin typeface="Barlow"/>
              </a:rPr>
              <a:t>• RWA</a:t>
            </a:r>
          </a:p>
          <a:p>
            <a:pPr algn="l">
              <a:lnSpc>
                <a:spcPts val="1100"/>
              </a:lnSpc>
              <a:spcAft>
                <a:spcPts val="200"/>
              </a:spcAft>
            </a:pPr>
            <a:r>
              <a:rPr sz="800" b="0">
                <a:latin typeface="Barlow"/>
              </a:rPr>
              <a:t>• EAD</a:t>
            </a:r>
          </a:p>
          <a:p>
            <a:pPr algn="l">
              <a:lnSpc>
                <a:spcPts val="1100"/>
              </a:lnSpc>
              <a:spcAft>
                <a:spcPts val="200"/>
              </a:spcAft>
            </a:pPr>
            <a:r>
              <a:rPr sz="800" b="0">
                <a:latin typeface="Barlow"/>
              </a:rPr>
              <a:t>• PD</a:t>
            </a:r>
          </a:p>
          <a:p>
            <a:pPr algn="l">
              <a:lnSpc>
                <a:spcPts val="1100"/>
              </a:lnSpc>
              <a:spcAft>
                <a:spcPts val="200"/>
              </a:spcAft>
            </a:pPr>
            <a:r>
              <a:rPr sz="800" b="0">
                <a:latin typeface="Barlow"/>
              </a:rPr>
              <a:t>• LGD</a:t>
            </a:r>
          </a:p>
          <a:p>
            <a:pPr algn="l">
              <a:lnSpc>
                <a:spcPts val="1100"/>
              </a:lnSpc>
              <a:spcAft>
                <a:spcPts val="200"/>
              </a:spcAft>
            </a:pPr>
            <a:r>
              <a:rPr sz="800" b="0">
                <a:latin typeface="Barlow"/>
              </a:rPr>
              <a:t>• ECL</a:t>
            </a:r>
          </a:p>
          <a:p>
            <a:pPr algn="l">
              <a:lnSpc>
                <a:spcPts val="1100"/>
              </a:lnSpc>
              <a:spcAft>
                <a:spcPts val="200"/>
              </a:spcAft>
            </a:pPr>
            <a:r>
              <a:rPr sz="800" b="0">
                <a:latin typeface="Barlow"/>
              </a:rPr>
              <a:t>• AML</a:t>
            </a:r>
          </a:p>
          <a:p>
            <a:pPr algn="l">
              <a:lnSpc>
                <a:spcPts val="1100"/>
              </a:lnSpc>
              <a:spcAft>
                <a:spcPts val="200"/>
              </a:spcAft>
            </a:pPr>
            <a:r>
              <a:rPr sz="800" b="0">
                <a:latin typeface="Barlow"/>
              </a:rPr>
              <a:t>• UAT</a:t>
            </a:r>
          </a:p>
          <a:p>
            <a:pPr algn="l">
              <a:lnSpc>
                <a:spcPts val="1100"/>
              </a:lnSpc>
              <a:spcAft>
                <a:spcPts val="200"/>
              </a:spcAft>
            </a:pPr>
            <a:r>
              <a:rPr sz="800" b="0">
                <a:latin typeface="Barlow"/>
              </a:rPr>
              <a:t>• BRD</a:t>
            </a:r>
          </a:p>
          <a:p>
            <a:pPr algn="l">
              <a:lnSpc>
                <a:spcPts val="1100"/>
              </a:lnSpc>
              <a:spcAft>
                <a:spcPts val="200"/>
              </a:spcAft>
            </a:pPr>
            <a:r>
              <a:rPr sz="800" b="0">
                <a:latin typeface="Barlow"/>
              </a:rPr>
              <a:t>• FRD</a:t>
            </a:r>
          </a:p>
          <a:p>
            <a:pPr algn="l">
              <a:lnSpc>
                <a:spcPts val="1100"/>
              </a:lnSpc>
              <a:spcAft>
                <a:spcPts val="200"/>
              </a:spcAft>
            </a:pPr>
            <a:r>
              <a:rPr sz="800" b="0">
                <a:latin typeface="Barlow"/>
              </a:rPr>
              <a:t>• AS-IS/TO-BE</a:t>
            </a:r>
          </a:p>
          <a:p>
            <a:pPr algn="l">
              <a:lnSpc>
                <a:spcPts val="1100"/>
              </a:lnSpc>
              <a:spcAft>
                <a:spcPts val="200"/>
              </a:spcAft>
            </a:pPr>
            <a:r>
              <a:rPr sz="800" b="0">
                <a:latin typeface="Barlow"/>
              </a:rPr>
              <a:t>• Process Mapping</a:t>
            </a:r>
          </a:p>
          <a:p>
            <a:pPr algn="l">
              <a:lnSpc>
                <a:spcPts val="1100"/>
              </a:lnSpc>
              <a:spcAft>
                <a:spcPts val="200"/>
              </a:spcAft>
            </a:pPr>
            <a:r>
              <a:rPr sz="800" b="0">
                <a:latin typeface="Barlow"/>
              </a:rPr>
              <a:t>• Data Modeling</a:t>
            </a:r>
          </a:p>
          <a:p>
            <a:pPr algn="l">
              <a:lnSpc>
                <a:spcPts val="1100"/>
              </a:lnSpc>
              <a:spcAft>
                <a:spcPts val="200"/>
              </a:spcAft>
            </a:pPr>
            <a:r>
              <a:rPr sz="800" b="0">
                <a:latin typeface="Barlow"/>
              </a:rPr>
              <a:t>• Excel-Advanced</a:t>
            </a:r>
          </a:p>
          <a:p>
            <a:pPr algn="l">
              <a:lnSpc>
                <a:spcPts val="1100"/>
              </a:lnSpc>
              <a:spcAft>
                <a:spcPts val="200"/>
              </a:spcAft>
            </a:pPr>
            <a:r>
              <a:rPr sz="800" b="0">
                <a:latin typeface="Barlow"/>
              </a:rPr>
              <a:t>• OCR</a:t>
            </a:r>
          </a:p>
          <a:p>
            <a:pPr algn="l">
              <a:lnSpc>
                <a:spcPts val="1100"/>
              </a:lnSpc>
              <a:spcAft>
                <a:spcPts val="200"/>
              </a:spcAft>
            </a:pPr>
            <a:r>
              <a:rPr sz="800" b="0">
                <a:latin typeface="Barlow"/>
              </a:rPr>
              <a:t>• UCP-600</a:t>
            </a:r>
          </a:p>
          <a:p>
            <a:pPr algn="l">
              <a:lnSpc>
                <a:spcPts val="1100"/>
              </a:lnSpc>
              <a:spcAft>
                <a:spcPts val="200"/>
              </a:spcAft>
            </a:pPr>
            <a:r>
              <a:rPr sz="800" b="0">
                <a:latin typeface="Barlow"/>
              </a:rPr>
              <a:t>• URDG-758</a:t>
            </a:r>
          </a:p>
          <a:p>
            <a:pPr>
              <a:spcBef>
                <a:spcPts val="12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 Management</a:t>
            </a:r>
          </a:p>
          <a:p>
            <a:pPr algn="l">
              <a:lnSpc>
                <a:spcPts val="1100"/>
              </a:lnSpc>
              <a:spcAft>
                <a:spcPts val="200"/>
              </a:spcAft>
            </a:pPr>
            <a:r>
              <a:rPr sz="800" b="0">
                <a:latin typeface="Barlow"/>
              </a:rPr>
              <a:t>• Regulatory Capital Reporting</a:t>
            </a:r>
          </a:p>
          <a:p>
            <a:pPr algn="l">
              <a:lnSpc>
                <a:spcPts val="1100"/>
              </a:lnSpc>
              <a:spcAft>
                <a:spcPts val="200"/>
              </a:spcAft>
            </a:pPr>
            <a:r>
              <a:rPr sz="800" b="0">
                <a:latin typeface="Barlow"/>
              </a:rPr>
              <a:t>• Core Banking Solutions</a:t>
            </a:r>
          </a:p>
          <a:p>
            <a:pPr algn="l">
              <a:lnSpc>
                <a:spcPts val="1100"/>
              </a:lnSpc>
              <a:spcAft>
                <a:spcPts val="200"/>
              </a:spcAft>
            </a:pPr>
            <a:r>
              <a:rPr sz="800" b="0">
                <a:latin typeface="Barlow"/>
              </a:rPr>
              <a:t>• Trade Finance</a:t>
            </a:r>
          </a:p>
          <a:p>
            <a:pPr>
              <a:spcBef>
                <a:spcPts val="1200"/>
              </a:spcBef>
              <a:spcAft>
                <a:spcPts val="400"/>
              </a:spcAft>
            </a:pPr>
            <a:r>
              <a:rPr sz="900" b="1">
                <a:solidFill>
                  <a:srgbClr val="00ACC4"/>
                </a:solidFill>
                <a:latin typeface="Barlow"/>
              </a:rPr>
              <a:t>EDUCATION</a:t>
            </a:r>
          </a:p>
          <a:p>
            <a:pPr algn="l">
              <a:lnSpc>
                <a:spcPts val="1100"/>
              </a:lnSpc>
              <a:spcAft>
                <a:spcPts val="200"/>
              </a:spcAft>
            </a:pPr>
            <a:r>
              <a:rPr sz="800" b="0">
                <a:latin typeface="Barlow"/>
              </a:rPr>
              <a:t>• Post Graduate Diploma in Banking (PGDB)/ MBA</a:t>
            </a:r>
          </a:p>
          <a:p>
            <a:pPr algn="l">
              <a:lnSpc>
                <a:spcPts val="1100"/>
              </a:lnSpc>
              <a:spcAft>
                <a:spcPts val="200"/>
              </a:spcAft>
            </a:pPr>
            <a:r>
              <a:rPr sz="800" b="0">
                <a:latin typeface="Barlow"/>
              </a:rPr>
              <a:t>• B.Tech (Bachelor of Technology)</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00"/>
              </a:lnSpc>
              <a:spcBef>
                <a:spcPts val="100"/>
              </a:spcBef>
              <a:spcAft>
                <a:spcPts val="200"/>
              </a:spcAft>
              <a:defRPr/>
            </a:pPr>
            <a:r>
              <a:rPr sz="800" b="1">
                <a:latin typeface="Barlow"/>
              </a:rPr>
              <a:t>Mohit Choudhary has 10 years of experience as a Senior Functional Consultant specializing in Credit Risk and Regulatory Capital within the Banking industry.</a:t>
            </a:r>
            <a:r>
              <a:rPr sz="800" b="0">
                <a:latin typeface="Barlow"/>
              </a:rPr>
              <a:t> He possesses deep expertise in core banking platforms, particularly Finacle versions 7, 10 and 11, where he validates complex business processes such as credit appraisal, drawing power calculations and trade cycles. His skill set includes drafting BRDs and FRDs, leading UAT coordination, and performing data modeling using advanced Excel. Mohit has successfully delivered digital lending, overdraft automation, and early warning signal solutions across major Indian banks, collaborating with risk underwriters, IT architects and senior stakeholders to ensure regulatory compliance and operational efficiency.</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00"/>
              </a:lnSpc>
              <a:spcBef>
                <a:spcPts val="200"/>
              </a:spcBef>
              <a:spcAft>
                <a:spcPts val="50"/>
              </a:spcAft>
            </a:pPr>
            <a:r>
              <a:rPr b="1" sz="800">
                <a:latin typeface="Barlow"/>
              </a:rPr>
              <a:t>Private Sector Bank – Small Business Digital Lending Interface Optimization – Senior Functional Risk Analyst</a:t>
            </a:r>
          </a:p>
          <a:p>
            <a:pPr>
              <a:lnSpc>
                <a:spcPts val="950"/>
              </a:lnSpc>
              <a:spcBef>
                <a:spcPts val="100"/>
              </a:spcBef>
              <a:spcAft>
                <a:spcPts val="80"/>
              </a:spcAft>
            </a:pPr>
            <a:r>
              <a:rPr sz="800" b="0">
                <a:latin typeface="Barlow"/>
              </a:rPr>
              <a:t>• Designed and authored comprehensive business requirement documents and functional specifications that transformed a confusing single-page application into a step-by-step guided lending wizard, resulting in reduced application drop-outs.</a:t>
            </a:r>
          </a:p>
          <a:p>
            <a:pPr>
              <a:lnSpc>
                <a:spcPts val="1000"/>
              </a:lnSpc>
              <a:spcBef>
                <a:spcPts val="200"/>
              </a:spcBef>
              <a:spcAft>
                <a:spcPts val="50"/>
              </a:spcAft>
            </a:pPr>
            <a:r>
              <a:rPr b="1" sz="800">
                <a:latin typeface="Barlow"/>
              </a:rPr>
              <a:t>Private Sector Bank – Trade Finance – Senior Functional Risk Analyst</a:t>
            </a:r>
          </a:p>
          <a:p>
            <a:pPr>
              <a:lnSpc>
                <a:spcPts val="950"/>
              </a:lnSpc>
              <a:spcBef>
                <a:spcPts val="100"/>
              </a:spcBef>
              <a:spcAft>
                <a:spcPts val="80"/>
              </a:spcAft>
            </a:pPr>
            <a:r>
              <a:rPr sz="800" b="0">
                <a:latin typeface="Barlow"/>
              </a:rPr>
              <a:t>• Served as core banking SME to translate UCP 600 trade regulations into validation parameters within Finacle 11, establishing automated compliance checks for letter of credit transactions.</a:t>
            </a:r>
          </a:p>
          <a:p>
            <a:pPr>
              <a:lnSpc>
                <a:spcPts val="1000"/>
              </a:lnSpc>
              <a:spcBef>
                <a:spcPts val="200"/>
              </a:spcBef>
              <a:spcAft>
                <a:spcPts val="50"/>
              </a:spcAft>
            </a:pPr>
            <a:r>
              <a:rPr b="1" sz="800">
                <a:latin typeface="Barlow"/>
              </a:rPr>
              <a:t>Private Sector Bank – Digital Overdraft &amp; Renewal Automation Platform – Senior Manager – Credit Risk &amp; Process Analyst</a:t>
            </a:r>
          </a:p>
          <a:p>
            <a:pPr>
              <a:lnSpc>
                <a:spcPts val="950"/>
              </a:lnSpc>
              <a:spcBef>
                <a:spcPts val="100"/>
              </a:spcBef>
              <a:spcAft>
                <a:spcPts val="80"/>
              </a:spcAft>
            </a:pPr>
            <a:r>
              <a:rPr sz="800" b="0">
                <a:latin typeface="Barlow"/>
              </a:rPr>
              <a:t>• Analyzed legacy overdraft renewal workflow and designed an OCR-enabled digital platform that cut renewal cycle time from twelve days to forty‑eight hours, dramatically improving service speed.</a:t>
            </a:r>
          </a:p>
          <a:p>
            <a:pPr>
              <a:lnSpc>
                <a:spcPts val="1000"/>
              </a:lnSpc>
              <a:spcBef>
                <a:spcPts val="200"/>
              </a:spcBef>
              <a:spcAft>
                <a:spcPts val="50"/>
              </a:spcAft>
            </a:pPr>
            <a:r>
              <a:rPr b="1" sz="800">
                <a:latin typeface="Barlow"/>
              </a:rPr>
              <a:t>Private Sector Bank – Credit Risk – Senior Manager – Credit Risk &amp; Process Analyst</a:t>
            </a:r>
          </a:p>
          <a:p>
            <a:pPr>
              <a:lnSpc>
                <a:spcPts val="950"/>
              </a:lnSpc>
              <a:spcBef>
                <a:spcPts val="100"/>
              </a:spcBef>
              <a:spcAft>
                <a:spcPts val="80"/>
              </a:spcAft>
            </a:pPr>
            <a:r>
              <a:rPr sz="800" b="0">
                <a:latin typeface="Barlow"/>
              </a:rPr>
              <a:t>• Translated complex credit appraisal policies into functional logic strings that automated PD flagging for ratings below BBB, LGD calculations with a 25% haircut, and ECL triggers for assets overdue 90 days, supporting Basel capital modeling.</a:t>
            </a:r>
          </a:p>
          <a:p>
            <a:pPr>
              <a:lnSpc>
                <a:spcPts val="1000"/>
              </a:lnSpc>
              <a:spcBef>
                <a:spcPts val="200"/>
              </a:spcBef>
              <a:spcAft>
                <a:spcPts val="50"/>
              </a:spcAft>
            </a:pPr>
            <a:r>
              <a:rPr b="1" sz="800">
                <a:latin typeface="Barlow"/>
              </a:rPr>
              <a:t>Private Sector Bank – Supply Chain Finance – Senior Manager – Credit Risk &amp; Process Analyst</a:t>
            </a:r>
          </a:p>
          <a:p>
            <a:pPr>
              <a:lnSpc>
                <a:spcPts val="950"/>
              </a:lnSpc>
              <a:spcBef>
                <a:spcPts val="100"/>
              </a:spcBef>
              <a:spcAft>
                <a:spcPts val="80"/>
              </a:spcAft>
            </a:pPr>
            <a:r>
              <a:rPr sz="800" b="0">
                <a:latin typeface="Barlow"/>
              </a:rPr>
              <a:t>• Designed functional end-to-end testing plans for a secure host-to-host API linking corporate ERP systems with core banking, enabling instant invoice discounting and high-volume bulk processing.</a:t>
            </a:r>
          </a:p>
          <a:p>
            <a:pPr>
              <a:lnSpc>
                <a:spcPts val="1000"/>
              </a:lnSpc>
              <a:spcBef>
                <a:spcPts val="200"/>
              </a:spcBef>
              <a:spcAft>
                <a:spcPts val="50"/>
              </a:spcAft>
            </a:pPr>
            <a:r>
              <a:rPr b="1" sz="800">
                <a:latin typeface="Barlow"/>
              </a:rPr>
              <a:t>Private Sector Bank – Corporate Lending – Senior Manager – Business Banking Asset Analyst</a:t>
            </a:r>
          </a:p>
          <a:p>
            <a:pPr>
              <a:lnSpc>
                <a:spcPts val="950"/>
              </a:lnSpc>
              <a:spcBef>
                <a:spcPts val="100"/>
              </a:spcBef>
              <a:spcAft>
                <a:spcPts val="80"/>
              </a:spcAft>
            </a:pPr>
            <a:r>
              <a:rPr sz="800" b="0">
                <a:latin typeface="Barlow"/>
              </a:rPr>
              <a:t>• Engineered an early warning signal dashboard that aggregated live transaction feeds, automatically identifying stressed credit profiles when fund-insufficient checks exceeded three per month or inventory audits dropped over 25%.</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