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Gaurav Tripathi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200"/>
              </a:lnSpc>
              <a:spcAft>
                <a:spcPts val="200"/>
              </a:spcAft>
            </a:pPr>
            <a:r>
              <a:rPr sz="900" b="0">
                <a:latin typeface="Barlow"/>
              </a:rPr>
              <a:t>• Excel</a:t>
            </a:r>
          </a:p>
          <a:p>
            <a:pPr algn="l">
              <a:lnSpc>
                <a:spcPts val="1200"/>
              </a:lnSpc>
              <a:spcAft>
                <a:spcPts val="200"/>
              </a:spcAft>
            </a:pPr>
            <a:r>
              <a:rPr sz="900" b="0">
                <a:latin typeface="Barlow"/>
              </a:rPr>
              <a:t>• SQL</a:t>
            </a:r>
          </a:p>
          <a:p>
            <a:pPr algn="l">
              <a:lnSpc>
                <a:spcPts val="1200"/>
              </a:lnSpc>
              <a:spcAft>
                <a:spcPts val="200"/>
              </a:spcAft>
            </a:pPr>
            <a:r>
              <a:rPr sz="900" b="0">
                <a:latin typeface="Barlow"/>
              </a:rPr>
              <a:t>• Tableau</a:t>
            </a:r>
          </a:p>
          <a:p>
            <a:pPr algn="l">
              <a:lnSpc>
                <a:spcPts val="1200"/>
              </a:lnSpc>
              <a:spcAft>
                <a:spcPts val="200"/>
              </a:spcAft>
            </a:pPr>
            <a:r>
              <a:rPr sz="900" b="0">
                <a:latin typeface="Barlow"/>
              </a:rPr>
              <a:t>• Python</a:t>
            </a:r>
          </a:p>
          <a:p>
            <a:pPr algn="l">
              <a:lnSpc>
                <a:spcPts val="1200"/>
              </a:lnSpc>
              <a:spcAft>
                <a:spcPts val="200"/>
              </a:spcAft>
            </a:pPr>
            <a:r>
              <a:rPr sz="900" b="0">
                <a:latin typeface="Barlow"/>
              </a:rPr>
              <a:t>• R</a:t>
            </a:r>
          </a:p>
          <a:p>
            <a:pPr algn="l">
              <a:lnSpc>
                <a:spcPts val="1200"/>
              </a:lnSpc>
              <a:spcAft>
                <a:spcPts val="200"/>
              </a:spcAft>
            </a:pPr>
            <a:r>
              <a:rPr sz="900" b="0">
                <a:latin typeface="Barlow"/>
              </a:rPr>
              <a:t>• Go</a:t>
            </a:r>
          </a:p>
          <a:p>
            <a:pPr algn="l">
              <a:lnSpc>
                <a:spcPts val="1200"/>
              </a:lnSpc>
              <a:spcAft>
                <a:spcPts val="200"/>
              </a:spcAft>
            </a:pPr>
            <a:r>
              <a:rPr sz="900" b="0">
                <a:latin typeface="Barlow"/>
              </a:rPr>
              <a:t>• GCP</a:t>
            </a:r>
          </a:p>
          <a:p>
            <a:pPr algn="l">
              <a:lnSpc>
                <a:spcPts val="1200"/>
              </a:lnSpc>
              <a:spcAft>
                <a:spcPts val="200"/>
              </a:spcAft>
            </a:pPr>
            <a:r>
              <a:rPr sz="900" b="0">
                <a:latin typeface="Barlow"/>
              </a:rPr>
              <a:t>• Data-Engineering</a:t>
            </a:r>
          </a:p>
          <a:p>
            <a:pPr algn="l">
              <a:lnSpc>
                <a:spcPts val="1200"/>
              </a:lnSpc>
              <a:spcAft>
                <a:spcPts val="200"/>
              </a:spcAft>
            </a:pPr>
            <a:r>
              <a:rPr sz="900" b="0">
                <a:latin typeface="Barlow"/>
              </a:rPr>
              <a:t>• Generative-AI</a:t>
            </a:r>
          </a:p>
          <a:p>
            <a:pPr algn="l">
              <a:lnSpc>
                <a:spcPts val="1200"/>
              </a:lnSpc>
              <a:spcAft>
                <a:spcPts val="200"/>
              </a:spcAft>
            </a:pPr>
            <a:r>
              <a:rPr sz="900" b="0">
                <a:latin typeface="Barlow"/>
              </a:rPr>
              <a:t>• Basel-III/3.1</a:t>
            </a:r>
          </a:p>
          <a:p>
            <a:pPr algn="l">
              <a:lnSpc>
                <a:spcPts val="1200"/>
              </a:lnSpc>
              <a:spcAft>
                <a:spcPts val="200"/>
              </a:spcAft>
            </a:pPr>
            <a:r>
              <a:rPr sz="900" b="0">
                <a:latin typeface="Barlow"/>
              </a:rPr>
              <a:t>• CECL</a:t>
            </a:r>
          </a:p>
          <a:p>
            <a:pPr algn="l">
              <a:lnSpc>
                <a:spcPts val="1200"/>
              </a:lnSpc>
              <a:spcAft>
                <a:spcPts val="200"/>
              </a:spcAft>
            </a:pPr>
            <a:r>
              <a:rPr sz="900" b="0">
                <a:latin typeface="Barlow"/>
              </a:rPr>
              <a:t>• Credit-Risk</a:t>
            </a:r>
          </a:p>
          <a:p>
            <a:pPr algn="l">
              <a:lnSpc>
                <a:spcPts val="1200"/>
              </a:lnSpc>
              <a:spcAft>
                <a:spcPts val="200"/>
              </a:spcAft>
            </a:pPr>
            <a:r>
              <a:rPr sz="900" b="0">
                <a:latin typeface="Barlow"/>
              </a:rPr>
              <a:t>• SAS</a:t>
            </a:r>
          </a:p>
          <a:p>
            <a:pPr algn="l">
              <a:lnSpc>
                <a:spcPts val="1200"/>
              </a:lnSpc>
              <a:spcAft>
                <a:spcPts val="200"/>
              </a:spcAft>
            </a:pPr>
            <a:r>
              <a:rPr sz="900" b="0">
                <a:latin typeface="Barlow"/>
              </a:rPr>
              <a:t>• Prompt-Engineering</a:t>
            </a:r>
          </a:p>
          <a:p>
            <a:pPr algn="l">
              <a:lnSpc>
                <a:spcPts val="1200"/>
              </a:lnSpc>
              <a:spcAft>
                <a:spcPts val="200"/>
              </a:spcAft>
            </a:pPr>
            <a:r>
              <a:rPr sz="900" b="0">
                <a:latin typeface="Barlow"/>
              </a:rPr>
              <a:t>• Linear-Regression</a:t>
            </a:r>
          </a:p>
          <a:p>
            <a:pPr algn="l">
              <a:lnSpc>
                <a:spcPts val="1200"/>
              </a:lnSpc>
              <a:spcAft>
                <a:spcPts val="200"/>
              </a:spcAft>
            </a:pPr>
            <a:r>
              <a:rPr sz="900" b="0">
                <a:latin typeface="Barlow"/>
              </a:rPr>
              <a:t>• Stress-Testing</a:t>
            </a:r>
          </a:p>
          <a:p>
            <a:pPr algn="l">
              <a:lnSpc>
                <a:spcPts val="1200"/>
              </a:lnSpc>
              <a:spcAft>
                <a:spcPts val="200"/>
              </a:spcAft>
            </a:pPr>
            <a:r>
              <a:rPr sz="900" b="0">
                <a:latin typeface="Barlow"/>
              </a:rPr>
              <a:t>• IRB-Modeling</a:t>
            </a:r>
          </a:p>
          <a:p>
            <a:pPr algn="l">
              <a:lnSpc>
                <a:spcPts val="1200"/>
              </a:lnSpc>
              <a:spcAft>
                <a:spcPts val="200"/>
              </a:spcAft>
            </a:pPr>
            <a:r>
              <a:rPr sz="900" b="0">
                <a:latin typeface="Barlow"/>
              </a:rPr>
              <a:t>• Climate-Risk</a:t>
            </a:r>
          </a:p>
          <a:p>
            <a:pPr algn="l">
              <a:lnSpc>
                <a:spcPts val="1200"/>
              </a:lnSpc>
              <a:spcAft>
                <a:spcPts val="200"/>
              </a:spcAft>
            </a:pPr>
            <a:r>
              <a:rPr sz="900" b="0">
                <a:latin typeface="Barlow"/>
              </a:rPr>
              <a:t>• IFRS-9</a:t>
            </a:r>
          </a:p>
          <a:p>
            <a:pPr algn="l">
              <a:lnSpc>
                <a:spcPts val="1200"/>
              </a:lnSpc>
              <a:spcAft>
                <a:spcPts val="200"/>
              </a:spcAft>
            </a:pPr>
            <a:r>
              <a:rPr sz="900" b="0">
                <a:latin typeface="Barlow"/>
              </a:rPr>
              <a:t>• Basel-IV</a:t>
            </a:r>
          </a:p>
          <a:p>
            <a:pPr>
              <a:spcBef>
                <a:spcPts val="1200"/>
              </a:spcBef>
              <a:spcAft>
                <a:spcPts val="400"/>
              </a:spcAft>
            </a:pPr>
            <a:r>
              <a:rPr sz="900" b="1">
                <a:solidFill>
                  <a:srgbClr val="00ACC4"/>
                </a:solidFill>
                <a:latin typeface="Barlow"/>
              </a:rPr>
              <a:t>INDUSTRY EXPERTISE</a:t>
            </a:r>
          </a:p>
          <a:p>
            <a:pPr algn="l">
              <a:lnSpc>
                <a:spcPts val="1200"/>
              </a:lnSpc>
              <a:spcAft>
                <a:spcPts val="200"/>
              </a:spcAft>
            </a:pPr>
            <a:r>
              <a:rPr sz="900" b="0">
                <a:latin typeface="Barlow"/>
              </a:rPr>
              <a:t>• Credit Risk</a:t>
            </a:r>
          </a:p>
          <a:p>
            <a:pPr algn="l">
              <a:lnSpc>
                <a:spcPts val="1200"/>
              </a:lnSpc>
              <a:spcAft>
                <a:spcPts val="200"/>
              </a:spcAft>
            </a:pPr>
            <a:r>
              <a:rPr sz="900" b="0">
                <a:latin typeface="Barlow"/>
              </a:rPr>
              <a:t>• Regulatory Capital</a:t>
            </a:r>
          </a:p>
          <a:p>
            <a:pPr algn="l">
              <a:lnSpc>
                <a:spcPts val="1200"/>
              </a:lnSpc>
              <a:spcAft>
                <a:spcPts val="200"/>
              </a:spcAft>
            </a:pPr>
            <a:r>
              <a:rPr sz="900" b="0">
                <a:latin typeface="Barlow"/>
              </a:rPr>
              <a:t>• Banking &amp; Financial Services</a:t>
            </a:r>
          </a:p>
          <a:p>
            <a:pPr>
              <a:spcBef>
                <a:spcPts val="1200"/>
              </a:spcBef>
              <a:spcAft>
                <a:spcPts val="400"/>
              </a:spcAft>
            </a:pPr>
            <a:r>
              <a:rPr sz="900" b="1">
                <a:solidFill>
                  <a:srgbClr val="00ACC4"/>
                </a:solidFill>
                <a:latin typeface="Barlow"/>
              </a:rPr>
              <a:t>EDUCATION</a:t>
            </a:r>
          </a:p>
          <a:p>
            <a:pPr algn="l">
              <a:lnSpc>
                <a:spcPts val="1200"/>
              </a:lnSpc>
              <a:spcAft>
                <a:spcPts val="200"/>
              </a:spcAft>
            </a:pPr>
            <a:r>
              <a:rPr sz="900" b="0">
                <a:latin typeface="Barlow"/>
              </a:rPr>
              <a:t>• Executive PG Diploma in Data Science</a:t>
            </a:r>
          </a:p>
          <a:p>
            <a:pPr algn="l">
              <a:lnSpc>
                <a:spcPts val="1200"/>
              </a:lnSpc>
              <a:spcAft>
                <a:spcPts val="200"/>
              </a:spcAft>
            </a:pPr>
            <a:r>
              <a:rPr sz="900" b="0">
                <a:latin typeface="Barlow"/>
              </a:rPr>
              <a:t>• PGDM Finance &amp; Marketing</a:t>
            </a:r>
          </a:p>
          <a:p>
            <a:pPr algn="l">
              <a:lnSpc>
                <a:spcPts val="1200"/>
              </a:lnSpc>
              <a:spcAft>
                <a:spcPts val="200"/>
              </a:spcAft>
            </a:pPr>
            <a:r>
              <a:rPr sz="900" b="0">
                <a:latin typeface="Barlow"/>
              </a:rPr>
              <a:t>• BE</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50"/>
              </a:lnSpc>
              <a:spcBef>
                <a:spcPts val="100"/>
              </a:spcBef>
              <a:spcAft>
                <a:spcPts val="200"/>
              </a:spcAft>
              <a:defRPr/>
            </a:pPr>
            <a:r>
              <a:rPr sz="900" b="1">
                <a:latin typeface="Barlow"/>
              </a:rPr>
              <a:t>Gaurav Tripathi has 16 years of experience as a Senior Business Analyst specializing in Credit Risk and Regulatory Capital within the Banking and Financial Services industry.</a:t>
            </a:r>
            <a:r>
              <a:rPr sz="900" b="0">
                <a:latin typeface="Barlow"/>
              </a:rPr>
              <a:t> He has led end‑to‑end credit risk model development, including CECL linear regression, stress testing frameworks such as CCAR and ICAAP, and IFRS‑9 integration across corporate lending, project finance, and commercial real estate portfolios. His technical toolkit comprises Python, R, SQL, Excel, Tableau, SAS, and Google Cloud Platform, enabling data extraction, advanced analytics, and automated dashboard creation for real‑time monitoring of delinquency trends and key performance indicators. He engages with regulators such as PRA, ECB, Fed/OCC, and OSFI, translating supervisory requirements into actionable test strategies and ensuring compliance with Basel III/3.1, Basel IV, and capital adequacy standards.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50"/>
              </a:lnSpc>
              <a:spcBef>
                <a:spcPts val="200"/>
              </a:spcBef>
              <a:spcAft>
                <a:spcPts val="50"/>
              </a:spcAft>
            </a:pPr>
            <a:r>
              <a:rPr b="1" sz="900">
                <a:latin typeface="Barlow"/>
              </a:rPr>
              <a:t>Banking – Credit Risk Model Development and Stress Testing – Senior Business Analyst – Credit Risk</a:t>
            </a:r>
          </a:p>
          <a:p>
            <a:pPr>
              <a:lnSpc>
                <a:spcPts val="1000"/>
              </a:lnSpc>
              <a:spcBef>
                <a:spcPts val="100"/>
              </a:spcBef>
              <a:spcAft>
                <a:spcPts val="80"/>
              </a:spcAft>
            </a:pPr>
            <a:r>
              <a:rPr sz="900" b="0">
                <a:latin typeface="Barlow"/>
              </a:rPr>
              <a:t>• Developed and validated Linear Regression models in accordance with CECL guidelines, conducting rigorous backtesting, sensitivity testing, and stress scenario forecasting to ensure model robustness.</a:t>
            </a:r>
          </a:p>
          <a:p>
            <a:pPr>
              <a:lnSpc>
                <a:spcPts val="1000"/>
              </a:lnSpc>
              <a:spcBef>
                <a:spcPts val="100"/>
              </a:spcBef>
              <a:spcAft>
                <a:spcPts val="80"/>
              </a:spcAft>
            </a:pPr>
            <a:r>
              <a:rPr sz="900" b="0">
                <a:latin typeface="Barlow"/>
              </a:rPr>
              <a:t>• Designed and executed stress testing frameworks such as CCAR and ICAAP, linking IRB models to IFRS 9 calculations for comprehensive capital assessment.</a:t>
            </a:r>
          </a:p>
          <a:p>
            <a:pPr>
              <a:lnSpc>
                <a:spcPts val="1000"/>
              </a:lnSpc>
              <a:spcBef>
                <a:spcPts val="100"/>
              </a:spcBef>
              <a:spcAft>
                <a:spcPts val="80"/>
              </a:spcAft>
            </a:pPr>
            <a:r>
              <a:rPr sz="900" b="0">
                <a:latin typeface="Barlow"/>
              </a:rPr>
              <a:t>• Coordinated regulatory interactions with PRA, ECB, Fed/OCC, and OSFI, translating supervisory expectations into actionable project requirements.</a:t>
            </a:r>
          </a:p>
          <a:p>
            <a:pPr>
              <a:lnSpc>
                <a:spcPts val="1050"/>
              </a:lnSpc>
              <a:spcBef>
                <a:spcPts val="200"/>
              </a:spcBef>
              <a:spcAft>
                <a:spcPts val="50"/>
              </a:spcAft>
            </a:pPr>
            <a:r>
              <a:rPr b="1" sz="900">
                <a:latin typeface="Barlow"/>
              </a:rPr>
              <a:t>Banking – Wholesale IRB Capital and Climate Risk Modelling – Business Analyst IV</a:t>
            </a:r>
          </a:p>
          <a:p>
            <a:pPr>
              <a:lnSpc>
                <a:spcPts val="1000"/>
              </a:lnSpc>
              <a:spcBef>
                <a:spcPts val="100"/>
              </a:spcBef>
              <a:spcAft>
                <a:spcPts val="80"/>
              </a:spcAft>
            </a:pPr>
            <a:r>
              <a:rPr sz="900" b="0">
                <a:latin typeface="Barlow"/>
              </a:rPr>
              <a:t>• Modeled and validated wholesale IRB capital models, integrating IFRS 9 and climate risk components to align with Basel regulatory standards.</a:t>
            </a:r>
          </a:p>
          <a:p>
            <a:pPr>
              <a:lnSpc>
                <a:spcPts val="1000"/>
              </a:lnSpc>
              <a:spcBef>
                <a:spcPts val="100"/>
              </a:spcBef>
              <a:spcAft>
                <a:spcPts val="80"/>
              </a:spcAft>
            </a:pPr>
            <a:r>
              <a:rPr sz="900" b="0">
                <a:latin typeface="Barlow"/>
              </a:rPr>
              <a:t>• Produced detailed documentation of model assumptions, data flows, and validation results for senior risk committees and external auditors.</a:t>
            </a:r>
          </a:p>
          <a:p>
            <a:pPr>
              <a:lnSpc>
                <a:spcPts val="1000"/>
              </a:lnSpc>
              <a:spcBef>
                <a:spcPts val="100"/>
              </a:spcBef>
              <a:spcAft>
                <a:spcPts val="80"/>
              </a:spcAft>
            </a:pPr>
            <a:r>
              <a:rPr sz="900" b="0">
                <a:latin typeface="Barlow"/>
              </a:rPr>
              <a:t>• Collaborated with data engineering and quantitative teams to implement automated data pipelines supporting model recalibration.</a:t>
            </a:r>
          </a:p>
          <a:p>
            <a:pPr>
              <a:lnSpc>
                <a:spcPts val="1050"/>
              </a:lnSpc>
              <a:spcBef>
                <a:spcPts val="200"/>
              </a:spcBef>
              <a:spcAft>
                <a:spcPts val="50"/>
              </a:spcAft>
            </a:pPr>
            <a:r>
              <a:rPr b="1" sz="900">
                <a:latin typeface="Barlow"/>
              </a:rPr>
              <a:t>FinTech – Credit Risk Analytics and Dashboard Automation – Credit Risk Analyst</a:t>
            </a:r>
          </a:p>
          <a:p>
            <a:pPr>
              <a:lnSpc>
                <a:spcPts val="1000"/>
              </a:lnSpc>
              <a:spcBef>
                <a:spcPts val="100"/>
              </a:spcBef>
              <a:spcAft>
                <a:spcPts val="80"/>
              </a:spcAft>
            </a:pPr>
            <a:r>
              <a:rPr sz="900" b="0">
                <a:latin typeface="Barlow"/>
              </a:rPr>
              <a:t>• Developed credit risk models using Python, performing bucket analysis to identify potential financial risk exposures across consumer segments.</a:t>
            </a:r>
          </a:p>
          <a:p>
            <a:pPr>
              <a:lnSpc>
                <a:spcPts val="1000"/>
              </a:lnSpc>
              <a:spcBef>
                <a:spcPts val="100"/>
              </a:spcBef>
              <a:spcAft>
                <a:spcPts val="80"/>
              </a:spcAft>
            </a:pPr>
            <a:r>
              <a:rPr sz="900" b="0">
                <a:latin typeface="Barlow"/>
              </a:rPr>
              <a:t>• Designed automated BI solutions in Tableau, creating recurrent reporting dashboards that visualized delinquency trends and key performance indicators.</a:t>
            </a:r>
          </a:p>
          <a:p>
            <a:pPr>
              <a:lnSpc>
                <a:spcPts val="1000"/>
              </a:lnSpc>
              <a:spcBef>
                <a:spcPts val="100"/>
              </a:spcBef>
              <a:spcAft>
                <a:spcPts val="80"/>
              </a:spcAft>
            </a:pPr>
            <a:r>
              <a:rPr sz="900" b="0">
                <a:latin typeface="Barlow"/>
              </a:rPr>
              <a:t>• Executed data wrangling and transformation scripts in Python to cleanse transaction data, improving accuracy of DPD calculations.</a:t>
            </a:r>
          </a:p>
          <a:p>
            <a:pPr>
              <a:lnSpc>
                <a:spcPts val="1050"/>
              </a:lnSpc>
              <a:spcBef>
                <a:spcPts val="200"/>
              </a:spcBef>
              <a:spcAft>
                <a:spcPts val="50"/>
              </a:spcAft>
            </a:pPr>
            <a:r>
              <a:rPr b="1" sz="900">
                <a:latin typeface="Barlow"/>
              </a:rPr>
              <a:t>Software Development – Enterprise Application Engineering – Software Engineer</a:t>
            </a:r>
          </a:p>
          <a:p>
            <a:pPr>
              <a:lnSpc>
                <a:spcPts val="1000"/>
              </a:lnSpc>
              <a:spcBef>
                <a:spcPts val="100"/>
              </a:spcBef>
              <a:spcAft>
                <a:spcPts val="80"/>
              </a:spcAft>
            </a:pPr>
            <a:r>
              <a:rPr sz="900" b="0">
                <a:latin typeface="Barlow"/>
              </a:rPr>
              <a:t>• Developed multi‑screen enterprise application components with role‑based authentication, adhering to client specifications and security standards.</a:t>
            </a:r>
          </a:p>
          <a:p>
            <a:pPr>
              <a:lnSpc>
                <a:spcPts val="1000"/>
              </a:lnSpc>
              <a:spcBef>
                <a:spcPts val="100"/>
              </a:spcBef>
              <a:spcAft>
                <a:spcPts val="80"/>
              </a:spcAft>
            </a:pPr>
            <a:r>
              <a:rPr sz="900" b="0">
                <a:latin typeface="Barlow"/>
              </a:rPr>
              <a:t>• Gathered and analyzed detailed client requirements, producing high‑level technical design documents that guided development activities.</a:t>
            </a:r>
          </a:p>
          <a:p>
            <a:pPr>
              <a:lnSpc>
                <a:spcPts val="1000"/>
              </a:lnSpc>
              <a:spcBef>
                <a:spcPts val="100"/>
              </a:spcBef>
              <a:spcAft>
                <a:spcPts val="80"/>
              </a:spcAft>
            </a:pPr>
            <a:r>
              <a:rPr sz="900" b="0">
                <a:latin typeface="Barlow"/>
              </a:rPr>
              <a:t>• Implemented client‑side and server‑side validation mechanisms, enhancing data integrity and user experience across the application.</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