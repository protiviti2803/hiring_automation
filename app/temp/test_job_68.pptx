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Gaurav Tripathi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Excel</a:t>
            </a:r>
          </a:p>
          <a:p>
            <a:pPr algn="l">
              <a:lnSpc>
                <a:spcPts val="1100"/>
              </a:lnSpc>
              <a:spcAft>
                <a:spcPts val="200"/>
              </a:spcAft>
            </a:pPr>
            <a:r>
              <a:rPr sz="800" b="0">
                <a:latin typeface="Barlow"/>
              </a:rPr>
              <a:t>• SQL</a:t>
            </a:r>
          </a:p>
          <a:p>
            <a:pPr algn="l">
              <a:lnSpc>
                <a:spcPts val="1100"/>
              </a:lnSpc>
              <a:spcAft>
                <a:spcPts val="200"/>
              </a:spcAft>
            </a:pPr>
            <a:r>
              <a:rPr sz="800" b="0">
                <a:latin typeface="Barlow"/>
              </a:rPr>
              <a:t>• Tableau</a:t>
            </a:r>
          </a:p>
          <a:p>
            <a:pPr algn="l">
              <a:lnSpc>
                <a:spcPts val="1100"/>
              </a:lnSpc>
              <a:spcAft>
                <a:spcPts val="200"/>
              </a:spcAft>
            </a:pPr>
            <a:r>
              <a:rPr sz="800" b="0">
                <a:latin typeface="Barlow"/>
              </a:rPr>
              <a:t>• Python</a:t>
            </a:r>
          </a:p>
          <a:p>
            <a:pPr algn="l">
              <a:lnSpc>
                <a:spcPts val="1100"/>
              </a:lnSpc>
              <a:spcAft>
                <a:spcPts val="200"/>
              </a:spcAft>
            </a:pPr>
            <a:r>
              <a:rPr sz="800" b="0">
                <a:latin typeface="Barlow"/>
              </a:rPr>
              <a:t>• R</a:t>
            </a:r>
          </a:p>
          <a:p>
            <a:pPr algn="l">
              <a:lnSpc>
                <a:spcPts val="1100"/>
              </a:lnSpc>
              <a:spcAft>
                <a:spcPts val="200"/>
              </a:spcAft>
            </a:pPr>
            <a:r>
              <a:rPr sz="800" b="0">
                <a:latin typeface="Barlow"/>
              </a:rPr>
              <a:t>• Go</a:t>
            </a:r>
          </a:p>
          <a:p>
            <a:pPr algn="l">
              <a:lnSpc>
                <a:spcPts val="1100"/>
              </a:lnSpc>
              <a:spcAft>
                <a:spcPts val="200"/>
              </a:spcAft>
            </a:pPr>
            <a:r>
              <a:rPr sz="800" b="0">
                <a:latin typeface="Barlow"/>
              </a:rPr>
              <a:t>• Google Cloud Platform</a:t>
            </a:r>
          </a:p>
          <a:p>
            <a:pPr algn="l">
              <a:lnSpc>
                <a:spcPts val="1100"/>
              </a:lnSpc>
              <a:spcAft>
                <a:spcPts val="200"/>
              </a:spcAft>
            </a:pPr>
            <a:r>
              <a:rPr sz="800" b="0">
                <a:latin typeface="Barlow"/>
              </a:rPr>
              <a:t>• Generative AI</a:t>
            </a:r>
          </a:p>
          <a:p>
            <a:pPr algn="l">
              <a:lnSpc>
                <a:spcPts val="1100"/>
              </a:lnSpc>
              <a:spcAft>
                <a:spcPts val="200"/>
              </a:spcAft>
            </a:pPr>
            <a:r>
              <a:rPr sz="800" b="0">
                <a:latin typeface="Barlow"/>
              </a:rPr>
              <a:t>• CECL</a:t>
            </a:r>
          </a:p>
          <a:p>
            <a:pPr algn="l">
              <a:lnSpc>
                <a:spcPts val="1100"/>
              </a:lnSpc>
              <a:spcAft>
                <a:spcPts val="200"/>
              </a:spcAft>
            </a:pPr>
            <a:r>
              <a:rPr sz="800" b="0">
                <a:latin typeface="Barlow"/>
              </a:rPr>
              <a:t>• Credit-Risk</a:t>
            </a:r>
          </a:p>
          <a:p>
            <a:pPr algn="l">
              <a:lnSpc>
                <a:spcPts val="1100"/>
              </a:lnSpc>
              <a:spcAft>
                <a:spcPts val="200"/>
              </a:spcAft>
            </a:pPr>
            <a:r>
              <a:rPr sz="800" b="0">
                <a:latin typeface="Barlow"/>
              </a:rPr>
              <a:t>• SAS</a:t>
            </a:r>
          </a:p>
          <a:p>
            <a:pPr algn="l">
              <a:lnSpc>
                <a:spcPts val="1100"/>
              </a:lnSpc>
              <a:spcAft>
                <a:spcPts val="200"/>
              </a:spcAft>
            </a:pPr>
            <a:r>
              <a:rPr sz="800" b="0">
                <a:latin typeface="Barlow"/>
              </a:rPr>
              <a:t>• Prompt Engineering</a:t>
            </a:r>
          </a:p>
          <a:p>
            <a:pPr algn="l">
              <a:lnSpc>
                <a:spcPts val="1100"/>
              </a:lnSpc>
              <a:spcAft>
                <a:spcPts val="200"/>
              </a:spcAft>
            </a:pPr>
            <a:r>
              <a:rPr sz="800" b="0">
                <a:latin typeface="Barlow"/>
              </a:rPr>
              <a:t>• Linear Regression</a:t>
            </a:r>
          </a:p>
          <a:p>
            <a:pPr algn="l">
              <a:lnSpc>
                <a:spcPts val="1100"/>
              </a:lnSpc>
              <a:spcAft>
                <a:spcPts val="200"/>
              </a:spcAft>
            </a:pPr>
            <a:r>
              <a:rPr sz="800" b="0">
                <a:latin typeface="Barlow"/>
              </a:rPr>
              <a:t>• Stress Testing</a:t>
            </a:r>
          </a:p>
          <a:p>
            <a:pPr algn="l">
              <a:lnSpc>
                <a:spcPts val="1100"/>
              </a:lnSpc>
              <a:spcAft>
                <a:spcPts val="200"/>
              </a:spcAft>
            </a:pPr>
            <a:r>
              <a:rPr sz="800" b="0">
                <a:latin typeface="Barlow"/>
              </a:rPr>
              <a:t>• CCAR</a:t>
            </a:r>
          </a:p>
          <a:p>
            <a:pPr algn="l">
              <a:lnSpc>
                <a:spcPts val="1100"/>
              </a:lnSpc>
              <a:spcAft>
                <a:spcPts val="200"/>
              </a:spcAft>
            </a:pPr>
            <a:r>
              <a:rPr sz="800" b="0">
                <a:latin typeface="Barlow"/>
              </a:rPr>
              <a:t>• ICAAP</a:t>
            </a:r>
          </a:p>
          <a:p>
            <a:pPr algn="l">
              <a:lnSpc>
                <a:spcPts val="1100"/>
              </a:lnSpc>
              <a:spcAft>
                <a:spcPts val="200"/>
              </a:spcAft>
            </a:pPr>
            <a:r>
              <a:rPr sz="800" b="0">
                <a:latin typeface="Barlow"/>
              </a:rPr>
              <a:t>• IRB</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IFRS-9</a:t>
            </a:r>
          </a:p>
          <a:p>
            <a:pPr algn="l">
              <a:lnSpc>
                <a:spcPts val="1100"/>
              </a:lnSpc>
              <a:spcAft>
                <a:spcPts val="200"/>
              </a:spcAft>
            </a:pPr>
            <a:r>
              <a:rPr sz="800" b="0">
                <a:latin typeface="Barlow"/>
              </a:rPr>
              <a:t>• Basel-IV</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a:t>
            </a:r>
          </a:p>
          <a:p>
            <a:pPr algn="l">
              <a:lnSpc>
                <a:spcPts val="1100"/>
              </a:lnSpc>
              <a:spcAft>
                <a:spcPts val="200"/>
              </a:spcAft>
            </a:pPr>
            <a:r>
              <a:rPr sz="800" b="0">
                <a:latin typeface="Barlow"/>
              </a:rPr>
              <a:t>• Financial Services</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Executive PG Diploma in Data Science</a:t>
            </a:r>
          </a:p>
          <a:p>
            <a:pPr algn="l">
              <a:lnSpc>
                <a:spcPts val="1100"/>
              </a:lnSpc>
              <a:spcAft>
                <a:spcPts val="200"/>
              </a:spcAft>
            </a:pPr>
            <a:r>
              <a:rPr sz="800" b="0">
                <a:latin typeface="Barlow"/>
              </a:rPr>
              <a:t>• PGDM Finance &amp; Marketing</a:t>
            </a:r>
          </a:p>
          <a:p>
            <a:pPr algn="l">
              <a:lnSpc>
                <a:spcPts val="1100"/>
              </a:lnSpc>
              <a:spcAft>
                <a:spcPts val="200"/>
              </a:spcAft>
            </a:pPr>
            <a:r>
              <a:rPr sz="800" b="0">
                <a:latin typeface="Barlow"/>
              </a:rPr>
              <a:t>• BE</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100"/>
              </a:lnSpc>
              <a:spcBef>
                <a:spcPts val="100"/>
              </a:spcBef>
              <a:spcAft>
                <a:spcPts val="200"/>
              </a:spcAft>
              <a:defRPr/>
            </a:pPr>
            <a:r>
              <a:rPr sz="800" b="1">
                <a:latin typeface="Barlow"/>
              </a:rPr>
              <a:t>Gaurav Tripathi has 9 years of experience as a Senior Business Analyst specializing in Credit Risk and Regulatory Capital within the Banking and Financial Services industry.</a:t>
            </a:r>
            <a:r>
              <a:rPr sz="800" b="0">
                <a:latin typeface="Barlow"/>
              </a:rPr>
              <a:t> He leverages advanced analytical tools such as Python, SQL, Excel, Tableau, and R to build and validate risk models, including CECL, IFRS‑9, and Basel‑IV frameworks. His expertise spans stress testing (CCAR, ICAAP), IRB‑to‑IFRS‑9 model linkages, and climate risk modelling, ensuring robust regulatory compliance across multiple jurisdictions. Gaurav has led collaborations with regulators (PRA, ECB, Fed/OCC, OSFI), business stakeholders, and technology teams to deliver automated reporting solutions and data visualizations that drive informed decision‑making. He consistently applies rigorous testing, data reconciliation, and process‑improvement methodologies to mitigate risk, enhance platform stability, and support strategic financial objectives.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100"/>
              </a:lnSpc>
              <a:spcBef>
                <a:spcPts val="400"/>
              </a:spcBef>
              <a:spcAft>
                <a:spcPts val="100"/>
              </a:spcAft>
            </a:pPr>
            <a:r>
              <a:rPr b="1" sz="850">
                <a:latin typeface="Barlow"/>
              </a:rPr>
              <a:t>Private Sector Bank – Credit Risk Model Development and Regulatory Reporting – Senior Business Analyst – Credit Risk</a:t>
            </a:r>
          </a:p>
          <a:p>
            <a:pPr>
              <a:lnSpc>
                <a:spcPts val="1050"/>
              </a:lnSpc>
              <a:spcBef>
                <a:spcPts val="100"/>
              </a:spcBef>
              <a:spcAft>
                <a:spcPts val="150"/>
              </a:spcAft>
            </a:pPr>
            <a:r>
              <a:rPr sz="800" b="0">
                <a:latin typeface="Barlow"/>
              </a:rPr>
              <a:t>• Developed and validated Linear Regression models aligned with CECL guidelines, performing extensive backtesting, sensitivity analysis, and stress scenario forecasting to ensure model robustness.</a:t>
            </a:r>
          </a:p>
          <a:p>
            <a:pPr>
              <a:lnSpc>
                <a:spcPts val="1100"/>
              </a:lnSpc>
              <a:spcBef>
                <a:spcPts val="400"/>
              </a:spcBef>
              <a:spcAft>
                <a:spcPts val="100"/>
              </a:spcAft>
            </a:pPr>
            <a:r>
              <a:rPr b="1" sz="850">
                <a:latin typeface="Barlow"/>
              </a:rPr>
              <a:t>Private Sector Bank – Wholesale IRB Capital Modeling and Climate Risk Integration – Business Analyst IV</a:t>
            </a:r>
          </a:p>
          <a:p>
            <a:pPr>
              <a:lnSpc>
                <a:spcPts val="1050"/>
              </a:lnSpc>
              <a:spcBef>
                <a:spcPts val="100"/>
              </a:spcBef>
              <a:spcAft>
                <a:spcPts val="150"/>
              </a:spcAft>
            </a:pPr>
            <a:r>
              <a:rPr sz="800" b="0">
                <a:latin typeface="Barlow"/>
              </a:rPr>
              <a:t>• Modeled and validated Wholesale IRB capital models, ensuring adherence to regulatory standards and accurate risk weight calculations.</a:t>
            </a:r>
          </a:p>
          <a:p>
            <a:pPr>
              <a:lnSpc>
                <a:spcPts val="1050"/>
              </a:lnSpc>
              <a:spcBef>
                <a:spcPts val="100"/>
              </a:spcBef>
              <a:spcAft>
                <a:spcPts val="150"/>
              </a:spcAft>
            </a:pPr>
            <a:r>
              <a:rPr sz="800" b="0">
                <a:latin typeface="Barlow"/>
              </a:rPr>
              <a:t>• Executed IFRS 9 implementation tasks, translating accounting requirements into system specifications and supporting data migration activities.</a:t>
            </a:r>
          </a:p>
          <a:p>
            <a:pPr>
              <a:lnSpc>
                <a:spcPts val="1100"/>
              </a:lnSpc>
              <a:spcBef>
                <a:spcPts val="400"/>
              </a:spcBef>
              <a:spcAft>
                <a:spcPts val="100"/>
              </a:spcAft>
            </a:pPr>
            <a:r>
              <a:rPr b="1" sz="850">
                <a:latin typeface="Barlow"/>
              </a:rPr>
              <a:t>Private Sector Bank – FinTech – Credit Risk Analyst</a:t>
            </a:r>
          </a:p>
          <a:p>
            <a:pPr>
              <a:lnSpc>
                <a:spcPts val="1050"/>
              </a:lnSpc>
              <a:spcBef>
                <a:spcPts val="100"/>
              </a:spcBef>
              <a:spcAft>
                <a:spcPts val="150"/>
              </a:spcAft>
            </a:pPr>
            <a:r>
              <a:rPr sz="800" b="0">
                <a:latin typeface="Barlow"/>
              </a:rPr>
              <a:t>• Developed credit risk models in Python, performing data wrangling and statistical analysis to quantify exposure probabilities.</a:t>
            </a:r>
          </a:p>
          <a:p>
            <a:pPr>
              <a:lnSpc>
                <a:spcPts val="1050"/>
              </a:lnSpc>
              <a:spcBef>
                <a:spcPts val="100"/>
              </a:spcBef>
              <a:spcAft>
                <a:spcPts val="150"/>
              </a:spcAft>
            </a:pPr>
            <a:r>
              <a:rPr sz="800" b="0">
                <a:latin typeface="Barlow"/>
              </a:rPr>
              <a:t>• Identified potential financial risks through bucket analysis and trend examination, enabling proactive mitigation of delinquency patterns.</a:t>
            </a:r>
          </a:p>
          <a:p>
            <a:pPr>
              <a:lnSpc>
                <a:spcPts val="1100"/>
              </a:lnSpc>
              <a:spcBef>
                <a:spcPts val="400"/>
              </a:spcBef>
              <a:spcAft>
                <a:spcPts val="100"/>
              </a:spcAft>
            </a:pPr>
            <a:r>
              <a:rPr b="1" sz="850">
                <a:latin typeface="Barlow"/>
              </a:rPr>
              <a:t>Private Sector Bank – Enterprise Application Development – Software Engineer</a:t>
            </a:r>
          </a:p>
          <a:p>
            <a:pPr>
              <a:lnSpc>
                <a:spcPts val="1050"/>
              </a:lnSpc>
              <a:spcBef>
                <a:spcPts val="100"/>
              </a:spcBef>
              <a:spcAft>
                <a:spcPts val="150"/>
              </a:spcAft>
            </a:pPr>
            <a:r>
              <a:rPr sz="800" b="0">
                <a:latin typeface="Barlow"/>
              </a:rPr>
              <a:t>• Developed multi‑screen application code implementing search criteria and role‑based authentication, enhancing user experience and security.</a:t>
            </a:r>
          </a:p>
          <a:p>
            <a:pPr>
              <a:lnSpc>
                <a:spcPts val="1050"/>
              </a:lnSpc>
              <a:spcBef>
                <a:spcPts val="100"/>
              </a:spcBef>
              <a:spcAft>
                <a:spcPts val="150"/>
              </a:spcAft>
            </a:pPr>
            <a:r>
              <a:rPr sz="800" b="0">
                <a:latin typeface="Barlow"/>
              </a:rPr>
              <a:t>• Gathered and analyzed client requirements, translating business needs into detailed functional specifications and high‑level technical design documents.</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