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
  </p:notesMasterIdLst>
  <p:sldIdLst>
    <p:sldId id="21474816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84E53-E109-4512-BEFF-25386603050E}" v="11" dt="2026-07-31T04:48:38.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4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A64A4-8F04-4D21-AE85-D21C24FFE365}"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DEDC6-57B9-4841-8E16-92778E2EE4C3}" type="slidenum">
              <a:rPr lang="en-GB" smtClean="0"/>
              <a:t>‹#›</a:t>
            </a:fld>
            <a:endParaRPr lang="en-GB"/>
          </a:p>
        </p:txBody>
      </p:sp>
    </p:spTree>
    <p:extLst>
      <p:ext uri="{BB962C8B-B14F-4D97-AF65-F5344CB8AC3E}">
        <p14:creationId xmlns:p14="http://schemas.microsoft.com/office/powerpoint/2010/main" val="253231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4BC8-1281-C19D-235A-60E677C5EEF8}"/>
            </a:ext>
          </a:extLst>
        </p:cNvPr>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470BD2E-7066-C909-CB27-AE3F660459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8195" name="Notes Placeholder 2">
            <a:extLst>
              <a:ext uri="{FF2B5EF4-FFF2-40B4-BE49-F238E27FC236}">
                <a16:creationId xmlns:a16="http://schemas.microsoft.com/office/drawing/2014/main" id="{AD3C7FCB-DE82-E801-3860-D9A4BA9A724B}"/>
              </a:ext>
            </a:extLst>
          </p:cNvPr>
          <p:cNvSpPr>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4" name="Slide Number Placeholder 3">
            <a:extLst>
              <a:ext uri="{FF2B5EF4-FFF2-40B4-BE49-F238E27FC236}">
                <a16:creationId xmlns:a16="http://schemas.microsoft.com/office/drawing/2014/main" id="{19547B8F-F91E-BCD3-AA0F-E9E37F41737B}"/>
              </a:ext>
            </a:extLst>
          </p:cNvPr>
          <p:cNvSpPr txBox="1"/>
          <p:nvPr/>
        </p:nvSpPr>
        <p:spPr>
          <a:xfrm>
            <a:off x="3884613" y="8685213"/>
            <a:ext cx="2971800" cy="458787"/>
          </a:xfrm>
          <a:prstGeom prst="rect">
            <a:avLst/>
          </a:prstGeom>
          <a:noFill/>
          <a:ln cap="flat">
            <a:noFill/>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BECC7B1C-B014-45AA-9113-D5F76C866331}"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4324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34A1-1FFD-08A9-06D7-AF30594B83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1230CD-156A-5322-7C6F-F1786ABFBB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815334-3D37-E4A0-9F87-3F9943024EAD}"/>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241E5B0E-6DF3-4C94-80B5-B344256F84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15EA3B-0FB6-A10E-E397-57E67C95D7E9}"/>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8540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0CD9-A699-2717-2440-DBE55388D81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7942CF-765C-3B93-0198-85FD3B9F3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9B2B66-9BB1-31B0-7258-2B2CD677E0B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5A1E8919-CC3D-40EB-0712-CA2C4E68E6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E4DF65-BF11-6907-B469-E87B23EEAEC1}"/>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54669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4E6-9A26-2479-DDBE-9940493244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E8FD20-3A4C-C5E4-49CF-5175CE1ACE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E97AE-DEC5-B29C-1826-7342092146F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4961412C-37EB-0637-DC38-DC5DC5882B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F9ABED-CB0E-8552-F7F2-9A2B12AA323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422779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A923-E110-B6EA-5EC9-98103E774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3867EC-A55A-1CCF-E6A3-61E172B26E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5972F9E-5C5D-4FB1-56A8-AF44B1035A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B4F12B-DCBB-5FF2-AFEC-D4FA9E136863}"/>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17C4DA59-D6BC-37DF-42A0-1914F600AF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86C43A-2724-E4EB-B374-00BFE2BECC4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42555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665B-0C45-E569-5B45-1663469A027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DBF56B-0D8B-BDC9-7C34-509FB1B766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6FD2B1-51F1-CACE-7E5A-397C2D14DA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AF1F5EF-544A-F5E2-2189-FF39D610D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C2E1F-8241-F6E6-6EAF-1B5A4A5B5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DC2B24-FABF-4D40-4480-0C4006FC0B4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8" name="Footer Placeholder 7">
            <a:extLst>
              <a:ext uri="{FF2B5EF4-FFF2-40B4-BE49-F238E27FC236}">
                <a16:creationId xmlns:a16="http://schemas.microsoft.com/office/drawing/2014/main" id="{430A03A6-8A28-E7DE-0CAB-307860EE96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1E9491C-6CD8-AC62-5824-73DF6ED51C4F}"/>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10715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144D-69AA-7E53-2516-A3C0E26AD9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1CE76F-E652-39CC-A926-61ABDE146F9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4" name="Footer Placeholder 3">
            <a:extLst>
              <a:ext uri="{FF2B5EF4-FFF2-40B4-BE49-F238E27FC236}">
                <a16:creationId xmlns:a16="http://schemas.microsoft.com/office/drawing/2014/main" id="{E6332CF3-06BC-565D-D3F0-22FDEB3BEC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15E833-C050-F55F-BC6B-EC80489E02AA}"/>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0001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DE0617-1D22-C81C-4B7A-5008407770E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3" name="Footer Placeholder 2">
            <a:extLst>
              <a:ext uri="{FF2B5EF4-FFF2-40B4-BE49-F238E27FC236}">
                <a16:creationId xmlns:a16="http://schemas.microsoft.com/office/drawing/2014/main" id="{899C5727-26BC-BC90-635E-CC4B22DFAB2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ECCC1E-4342-A6B5-CD05-A51D2917B05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9441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91EA-5818-3787-0FA2-E80B7E458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F8818D9-626D-7098-2499-B3F4AC5EE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75A300-833E-4681-E759-ED24A4C55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E3D44-DC37-B14D-CEFB-13EDEBF11D1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7227B9F2-FDDD-D257-7A44-C93F869C8C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F5528D-F3C5-B55A-53DA-6A78F1656BCD}"/>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264367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6AFF-E171-AC1E-127E-3D9A91B43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43FFACB-40AB-3A85-15F6-340B24D8B4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98DB6C-9BCC-DF84-4CF8-628B18BDA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D1EC9-9C0F-BA50-E571-E14F0171D2A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CD7601D6-CD86-BBDF-C093-91865EEE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B6F24F-996D-EFC3-54BE-881CFEFE8782}"/>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5081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971C-AA66-56E3-4CB5-BC0D2D77A1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785955-CB23-0E7C-6D92-908A34CB6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C84CE-69E1-2DC6-732D-ED52AB3A2CFE}"/>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1D2F265E-B5E7-22FB-ADE8-6F17DD7526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7EC371-A4B0-55E6-3F27-A60167CF623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495235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17F69E-D4D2-1140-BA86-C9AF6DCCAF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6E8BC8-C21D-E775-EA4C-1FAC1FE48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3FACC-3AC4-95DA-DE9A-EC74E53EE064}"/>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70C4A84A-BFD8-CF9A-06CA-8242879D4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B0263-5572-CAB9-D489-6B13C5C4588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87679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Resume w/picture map">
    <p:spTree>
      <p:nvGrpSpPr>
        <p:cNvPr id="1" name=""/>
        <p:cNvGrpSpPr/>
        <p:nvPr/>
      </p:nvGrpSpPr>
      <p:grpSpPr>
        <a:xfrm>
          <a:off x="0" y="0"/>
          <a:ext cx="0" cy="0"/>
          <a:chOff x="0" y="0"/>
          <a:chExt cx="0" cy="0"/>
        </a:xfrm>
      </p:grpSpPr>
      <p:pic>
        <p:nvPicPr>
          <p:cNvPr id="2" name="Picture 13" descr="A blue rectangular object with black border&#10;&#10;Description automatically generated">
            <a:extLst>
              <a:ext uri="{FF2B5EF4-FFF2-40B4-BE49-F238E27FC236}">
                <a16:creationId xmlns:a16="http://schemas.microsoft.com/office/drawing/2014/main" id="{BA69870E-4E56-8C1E-6843-424EC437D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525"/>
            <a:ext cx="2681288"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a:extLst>
              <a:ext uri="{FF2B5EF4-FFF2-40B4-BE49-F238E27FC236}">
                <a16:creationId xmlns:a16="http://schemas.microsoft.com/office/drawing/2014/main" id="{F19CF2BB-74C1-A092-3F63-58C3BC5AA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1825" y="6413500"/>
            <a:ext cx="80962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14"/>
          <p:cNvSpPr txBox="1">
            <a:spLocks noGrp="1"/>
          </p:cNvSpPr>
          <p:nvPr>
            <p:ph type="body" idx="4294967295"/>
          </p:nvPr>
        </p:nvSpPr>
        <p:spPr>
          <a:xfrm>
            <a:off x="590546" y="3231992"/>
            <a:ext cx="1990091" cy="446272"/>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Title,</a:t>
            </a:r>
            <a:br>
              <a:rPr lang="en-GB"/>
            </a:br>
            <a:r>
              <a:rPr lang="en-GB"/>
              <a:t>Solution/Industry</a:t>
            </a:r>
            <a:endParaRPr lang="en-US"/>
          </a:p>
        </p:txBody>
      </p:sp>
      <p:sp>
        <p:nvSpPr>
          <p:cNvPr id="5" name="Picture Placeholder 23"/>
          <p:cNvSpPr txBox="1">
            <a:spLocks noGrp="1"/>
          </p:cNvSpPr>
          <p:nvPr>
            <p:ph type="pic" idx="4294967295"/>
          </p:nvPr>
        </p:nvSpPr>
        <p:spPr>
          <a:xfrm>
            <a:off x="590546" y="580579"/>
            <a:ext cx="1485150" cy="1485150"/>
          </a:xfrm>
          <a:solidFill>
            <a:srgbClr val="BDCAD7"/>
          </a:solidFill>
        </p:spPr>
        <p:txBody>
          <a:bodyPr rtlCol="0" anchorCtr="1">
            <a:noAutofit/>
          </a:bodyPr>
          <a:lstStyle>
            <a:lvl1pPr marL="0" indent="0" algn="ctr">
              <a:buNone/>
              <a:defRPr sz="1200"/>
            </a:lvl1pPr>
          </a:lstStyle>
          <a:p>
            <a:pPr lvl="0"/>
            <a:r>
              <a:rPr lang="en-US" noProof="0"/>
              <a:t>Insert headshot</a:t>
            </a:r>
          </a:p>
        </p:txBody>
      </p:sp>
      <p:sp>
        <p:nvSpPr>
          <p:cNvPr id="7" name="Title 1"/>
          <p:cNvSpPr txBox="1">
            <a:spLocks noGrp="1"/>
          </p:cNvSpPr>
          <p:nvPr>
            <p:ph type="title"/>
          </p:nvPr>
        </p:nvSpPr>
        <p:spPr>
          <a:xfrm>
            <a:off x="590546" y="2192347"/>
            <a:ext cx="1990091" cy="990011"/>
          </a:xfrm>
        </p:spPr>
        <p:txBody>
          <a:bodyPr anchor="t">
            <a:normAutofit/>
          </a:bodyPr>
          <a:lstStyle>
            <a:lvl1pPr>
              <a:lnSpc>
                <a:spcPts val="3540"/>
              </a:lnSpc>
              <a:defRPr lang="en-GB">
                <a:solidFill>
                  <a:srgbClr val="FFFFFF"/>
                </a:solidFill>
                <a:latin typeface="Barlow Condensed Medium" pitchFamily="2"/>
              </a:defRPr>
            </a:lvl1pPr>
          </a:lstStyle>
          <a:p>
            <a:pPr lvl="0"/>
            <a:r>
              <a:rPr lang="en-GB"/>
              <a:t>Firstname</a:t>
            </a:r>
            <a:br>
              <a:rPr lang="en-GB"/>
            </a:br>
            <a:r>
              <a:rPr lang="en-GB"/>
              <a:t>Lastname</a:t>
            </a:r>
            <a:endParaRPr lang="en-US"/>
          </a:p>
        </p:txBody>
      </p:sp>
      <p:sp>
        <p:nvSpPr>
          <p:cNvPr id="8" name="Text Placeholder 14"/>
          <p:cNvSpPr txBox="1">
            <a:spLocks noGrp="1"/>
          </p:cNvSpPr>
          <p:nvPr>
            <p:ph type="body" idx="4294967295"/>
          </p:nvPr>
        </p:nvSpPr>
        <p:spPr>
          <a:xfrm>
            <a:off x="590546" y="3861255"/>
            <a:ext cx="1990091" cy="179807"/>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City</a:t>
            </a:r>
            <a:endParaRPr lang="en-US"/>
          </a:p>
        </p:txBody>
      </p:sp>
      <p:sp>
        <p:nvSpPr>
          <p:cNvPr id="9" name="Text Placeholder 14"/>
          <p:cNvSpPr txBox="1">
            <a:spLocks noGrp="1"/>
          </p:cNvSpPr>
          <p:nvPr>
            <p:ph type="body" idx="4294967295"/>
          </p:nvPr>
        </p:nvSpPr>
        <p:spPr>
          <a:xfrm>
            <a:off x="590546" y="4330662"/>
            <a:ext cx="1990091" cy="179807"/>
          </a:xfrm>
        </p:spPr>
        <p:txBody>
          <a:bodyPr>
            <a:noAutofit/>
          </a:bodyPr>
          <a:lstStyle>
            <a:lvl1pPr marL="0" indent="0">
              <a:buNone/>
              <a:defRPr lang="en-GB" sz="1000" b="1">
                <a:solidFill>
                  <a:srgbClr val="FFFFFF"/>
                </a:solidFill>
                <a:latin typeface="Arial" pitchFamily="34"/>
                <a:cs typeface="Arial" pitchFamily="34"/>
              </a:defRPr>
            </a:lvl1pPr>
          </a:lstStyle>
          <a:p>
            <a:pPr lvl="0"/>
            <a:r>
              <a:rPr lang="en-GB"/>
              <a:t>CONTACT</a:t>
            </a:r>
            <a:endParaRPr lang="en-US"/>
          </a:p>
        </p:txBody>
      </p:sp>
      <p:sp>
        <p:nvSpPr>
          <p:cNvPr id="10" name="Text Placeholder 14"/>
          <p:cNvSpPr txBox="1">
            <a:spLocks noGrp="1"/>
          </p:cNvSpPr>
          <p:nvPr>
            <p:ph type="body" idx="4294967295"/>
          </p:nvPr>
        </p:nvSpPr>
        <p:spPr>
          <a:xfrm>
            <a:off x="590546" y="4574624"/>
            <a:ext cx="1990091" cy="461662"/>
          </a:xfrm>
        </p:spPr>
        <p:txBody>
          <a:bodyPr>
            <a:normAutofit/>
          </a:bodyPr>
          <a:lstStyle>
            <a:lvl1pPr marL="0" indent="0">
              <a:spcAft>
                <a:spcPts val="0"/>
              </a:spcAft>
              <a:buNone/>
              <a:defRPr lang="en-GB" sz="1000">
                <a:solidFill>
                  <a:srgbClr val="FFFFFF"/>
                </a:solidFill>
                <a:latin typeface="Arial" pitchFamily="34"/>
                <a:cs typeface="Arial" pitchFamily="34"/>
              </a:defRPr>
            </a:lvl1pPr>
          </a:lstStyle>
          <a:p>
            <a:pPr lvl="0"/>
            <a:r>
              <a:rPr lang="en-GB"/>
              <a:t>P: +XX.XXX.XXXX</a:t>
            </a:r>
            <a:br>
              <a:rPr lang="en-GB"/>
            </a:br>
            <a:r>
              <a:rPr lang="en-GB"/>
              <a:t>C: +XX.XXX.XXXX</a:t>
            </a:r>
            <a:br>
              <a:rPr lang="en-GB"/>
            </a:br>
            <a:r>
              <a:rPr lang="en-GB"/>
              <a:t>xxxxx.xxxxx@protiviti.com</a:t>
            </a:r>
            <a:endParaRPr lang="en-US"/>
          </a:p>
        </p:txBody>
      </p:sp>
      <p:sp>
        <p:nvSpPr>
          <p:cNvPr id="6" name="Slide Number Placeholder 2">
            <a:extLst>
              <a:ext uri="{FF2B5EF4-FFF2-40B4-BE49-F238E27FC236}">
                <a16:creationId xmlns:a16="http://schemas.microsoft.com/office/drawing/2014/main" id="{522CAF5D-E2E0-1F88-E451-FD95F9CF491E}"/>
              </a:ext>
            </a:extLst>
          </p:cNvPr>
          <p:cNvSpPr txBox="1">
            <a:spLocks noGrp="1"/>
          </p:cNvSpPr>
          <p:nvPr>
            <p:ph type="sldNum" sz="quarter" idx="10"/>
          </p:nvPr>
        </p:nvSpPr>
        <p:spPr>
          <a:xfrm>
            <a:off x="3082925" y="6356350"/>
            <a:ext cx="2743200" cy="365125"/>
          </a:xfrm>
        </p:spPr>
        <p:txBody>
          <a:bodyPr/>
          <a:lstStyle>
            <a:lvl1pPr>
              <a:defRPr/>
            </a:lvl1pPr>
          </a:lstStyle>
          <a:p>
            <a:pPr>
              <a:defRPr/>
            </a:pPr>
            <a:fld id="{4F575D67-FB95-4845-AD7B-4332D4B8AAEA}" type="slidenum">
              <a:rPr/>
              <a:pPr>
                <a:defRPr/>
              </a:pPr>
              <a:t>‹#›</a:t>
            </a:fld>
            <a:endParaRPr lang="en-US"/>
          </a:p>
        </p:txBody>
      </p:sp>
    </p:spTree>
    <p:extLst>
      <p:ext uri="{BB962C8B-B14F-4D97-AF65-F5344CB8AC3E}">
        <p14:creationId xmlns:p14="http://schemas.microsoft.com/office/powerpoint/2010/main" val="377197139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376B0-DC7E-575C-8CDF-FC2734BFDE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A38B5D-C508-3D5C-1477-ECDCCF86B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9D568E-6B57-C903-D533-CE9E6F764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02FE44A8-6140-DEC7-9BB2-6CBFCD7F75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940978A-8B25-4726-763A-580747A0E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10AC3-96BB-47F6-8ECD-DBB4AE484DD7}" type="slidenum">
              <a:rPr lang="en-GB" smtClean="0"/>
              <a:t>‹#›</a:t>
            </a:fld>
            <a:endParaRPr lang="en-GB"/>
          </a:p>
        </p:txBody>
      </p:sp>
    </p:spTree>
    <p:extLst>
      <p:ext uri="{BB962C8B-B14F-4D97-AF65-F5344CB8AC3E}">
        <p14:creationId xmlns:p14="http://schemas.microsoft.com/office/powerpoint/2010/main" val="1286706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9A09-563F-432E-D7D4-D043B28F6293}"/>
            </a:ext>
          </a:extLst>
        </p:cNvPr>
        <p:cNvGrpSpPr/>
        <p:nvPr/>
      </p:nvGrpSpPr>
      <p:grpSpPr>
        <a:xfrm>
          <a:off x="0" y="0"/>
          <a:ext cx="0" cy="0"/>
          <a:chOff x="0" y="0"/>
          <a:chExt cx="0" cy="0"/>
        </a:xfrm>
      </p:grpSpPr>
      <p:sp>
        <p:nvSpPr>
          <p:cNvPr id="2" name="Title 138">
            <a:extLst>
              <a:ext uri="{FF2B5EF4-FFF2-40B4-BE49-F238E27FC236}">
                <a16:creationId xmlns:a16="http://schemas.microsoft.com/office/drawing/2014/main" id="{C45B6AD6-FBB8-0717-4A42-12712FC2351A}"/>
              </a:ext>
            </a:extLst>
          </p:cNvPr>
          <p:cNvSpPr txBox="1">
            <a:spLocks noGrp="1"/>
          </p:cNvSpPr>
          <p:nvPr>
            <p:ph type="title"/>
          </p:nvPr>
        </p:nvSpPr>
        <p:spPr>
          <a:xfrm>
            <a:off x="448633" y="2241849"/>
            <a:ext cx="1990725" cy="990600"/>
          </a:xfrm>
        </p:spPr>
        <p:txBody>
          <a:bodyPr rtlCol="0">
            <a:normAutofit fontScale="90000"/>
          </a:bodyPr>
          <a:lstStyle/>
          <a:p>
            <a:pPr>
              <a:defRPr/>
            </a:pPr>
            <a:r>
              <a:rPr sz="3200" b="1">
                <a:latin typeface="Barlow"/>
              </a:rPr>
              <a:t>Rishabh Chaturvedi</a:t>
            </a:r>
            <a:endParaRPr lang="en-US" dirty="0">
              <a:latin typeface="Barlow" panose="00000500000000000000" pitchFamily="2" charset="0"/>
            </a:endParaRPr>
          </a:p>
        </p:txBody>
      </p:sp>
      <p:sp>
        <p:nvSpPr>
          <p:cNvPr id="3" name="Text Placeholder 145">
            <a:extLst>
              <a:ext uri="{FF2B5EF4-FFF2-40B4-BE49-F238E27FC236}">
                <a16:creationId xmlns:a16="http://schemas.microsoft.com/office/drawing/2014/main" id="{2FC05A3F-88C0-49BF-338F-9F1260782657}"/>
              </a:ext>
            </a:extLst>
          </p:cNvPr>
          <p:cNvSpPr txBox="1"/>
          <p:nvPr/>
        </p:nvSpPr>
        <p:spPr>
          <a:xfrm>
            <a:off x="2927350" y="182880"/>
            <a:ext cx="1800225" cy="5232400"/>
          </a:xfrm>
          <a:prstGeom prst="rect">
            <a:avLst/>
          </a:prstGeom>
          <a:noFill/>
          <a:ln cap="flat">
            <a:noFill/>
          </a:ln>
        </p:spPr>
        <p:txBody>
          <a:bodyPr lIns="63500" tIns="63500" rIns="63500" bIns="63500"/>
          <a:lstStyle/>
          <a:p>
            <a:pPr marL="0" marR="0" lvl="2" indent="0" algn="l" defTabSz="914354" rtl="0" eaLnBrk="1" fontAlgn="auto" latinLnBrk="0" hangingPunct="1">
              <a:lnSpc>
                <a:spcPct val="100000"/>
              </a:lnSpc>
              <a:spcBef>
                <a:spcPts val="0"/>
              </a:spcBef>
              <a:spcAft>
                <a:spcPts val="400"/>
              </a:spcAft>
              <a:buClrTx/>
              <a:buSzTx/>
              <a:buFontTx/>
              <a:buNone/>
              <a:tabLst/>
              <a:defRPr sz="1800" b="0" i="0" u="none" strike="noStrike" kern="0" cap="none" spc="0" baseline="0">
                <a:solidFill>
                  <a:srgbClr val="000000"/>
                </a:solidFill>
                <a:uFillTx/>
              </a:defRPr>
            </a:pPr>
            <a:r>
              <a:rPr sz="900" b="1">
                <a:solidFill>
                  <a:srgbClr val="00ACC4"/>
                </a:solidFill>
                <a:latin typeface="Barlow"/>
              </a:rPr>
              <a:t>AREAS OF EXPERTISE</a:t>
            </a:r>
          </a:p>
          <a:p>
            <a:pPr algn="l">
              <a:lnSpc>
                <a:spcPts val="1100"/>
              </a:lnSpc>
              <a:spcAft>
                <a:spcPts val="200"/>
              </a:spcAft>
            </a:pPr>
            <a:r>
              <a:rPr sz="800" b="0">
                <a:latin typeface="Barlow"/>
              </a:rPr>
              <a:t>• Credit Risk</a:t>
            </a:r>
          </a:p>
          <a:p>
            <a:pPr algn="l">
              <a:lnSpc>
                <a:spcPts val="1100"/>
              </a:lnSpc>
              <a:spcAft>
                <a:spcPts val="200"/>
              </a:spcAft>
            </a:pPr>
            <a:r>
              <a:rPr sz="800" b="0">
                <a:latin typeface="Barlow"/>
              </a:rPr>
              <a:t>• Market Risk</a:t>
            </a:r>
          </a:p>
          <a:p>
            <a:pPr algn="l">
              <a:lnSpc>
                <a:spcPts val="1100"/>
              </a:lnSpc>
              <a:spcAft>
                <a:spcPts val="200"/>
              </a:spcAft>
            </a:pPr>
            <a:r>
              <a:rPr sz="800" b="0">
                <a:latin typeface="Barlow"/>
              </a:rPr>
              <a:t>• Risk Analytics</a:t>
            </a:r>
          </a:p>
          <a:p>
            <a:pPr algn="l">
              <a:lnSpc>
                <a:spcPts val="1100"/>
              </a:lnSpc>
              <a:spcAft>
                <a:spcPts val="200"/>
              </a:spcAft>
            </a:pPr>
            <a:r>
              <a:rPr sz="800" b="0">
                <a:latin typeface="Barlow"/>
              </a:rPr>
              <a:t>• Python</a:t>
            </a:r>
          </a:p>
          <a:p>
            <a:pPr algn="l">
              <a:lnSpc>
                <a:spcPts val="1100"/>
              </a:lnSpc>
              <a:spcAft>
                <a:spcPts val="200"/>
              </a:spcAft>
            </a:pPr>
            <a:r>
              <a:rPr sz="800" b="0">
                <a:latin typeface="Barlow"/>
              </a:rPr>
              <a:t>• SQL</a:t>
            </a:r>
          </a:p>
          <a:p>
            <a:pPr algn="l">
              <a:lnSpc>
                <a:spcPts val="1100"/>
              </a:lnSpc>
              <a:spcAft>
                <a:spcPts val="200"/>
              </a:spcAft>
            </a:pPr>
            <a:r>
              <a:rPr sz="800" b="0">
                <a:latin typeface="Barlow"/>
              </a:rPr>
              <a:t>• Power BI</a:t>
            </a:r>
          </a:p>
          <a:p>
            <a:pPr algn="l">
              <a:lnSpc>
                <a:spcPts val="1100"/>
              </a:lnSpc>
              <a:spcAft>
                <a:spcPts val="200"/>
              </a:spcAft>
            </a:pPr>
            <a:r>
              <a:rPr sz="800" b="0">
                <a:latin typeface="Barlow"/>
              </a:rPr>
              <a:t>• Power Query</a:t>
            </a:r>
          </a:p>
          <a:p>
            <a:pPr algn="l">
              <a:lnSpc>
                <a:spcPts val="1100"/>
              </a:lnSpc>
              <a:spcAft>
                <a:spcPts val="200"/>
              </a:spcAft>
            </a:pPr>
            <a:r>
              <a:rPr sz="800" b="0">
                <a:latin typeface="Barlow"/>
              </a:rPr>
              <a:t>• Advanced Excel</a:t>
            </a:r>
          </a:p>
          <a:p>
            <a:pPr algn="l">
              <a:lnSpc>
                <a:spcPts val="1100"/>
              </a:lnSpc>
              <a:spcAft>
                <a:spcPts val="200"/>
              </a:spcAft>
            </a:pPr>
            <a:r>
              <a:rPr sz="800" b="0">
                <a:latin typeface="Barlow"/>
              </a:rPr>
              <a:t>• AWS</a:t>
            </a:r>
          </a:p>
          <a:p>
            <a:pPr algn="l">
              <a:lnSpc>
                <a:spcPts val="1100"/>
              </a:lnSpc>
              <a:spcAft>
                <a:spcPts val="200"/>
              </a:spcAft>
            </a:pPr>
            <a:r>
              <a:rPr sz="800" b="0">
                <a:latin typeface="Barlow"/>
              </a:rPr>
              <a:t>• JIRA</a:t>
            </a:r>
          </a:p>
          <a:p>
            <a:pPr algn="l">
              <a:lnSpc>
                <a:spcPts val="1100"/>
              </a:lnSpc>
              <a:spcAft>
                <a:spcPts val="200"/>
              </a:spcAft>
            </a:pPr>
            <a:r>
              <a:rPr sz="800" b="0">
                <a:latin typeface="Barlow"/>
              </a:rPr>
              <a:t>• UAT</a:t>
            </a:r>
          </a:p>
          <a:p>
            <a:pPr algn="l">
              <a:lnSpc>
                <a:spcPts val="1100"/>
              </a:lnSpc>
              <a:spcAft>
                <a:spcPts val="200"/>
              </a:spcAft>
            </a:pPr>
            <a:r>
              <a:rPr sz="800" b="0">
                <a:latin typeface="Barlow"/>
              </a:rPr>
              <a:t>• Basel-III/3.1</a:t>
            </a:r>
          </a:p>
          <a:p>
            <a:pPr algn="l">
              <a:lnSpc>
                <a:spcPts val="1100"/>
              </a:lnSpc>
              <a:spcAft>
                <a:spcPts val="200"/>
              </a:spcAft>
            </a:pPr>
            <a:r>
              <a:rPr sz="800" b="0">
                <a:latin typeface="Barlow"/>
              </a:rPr>
              <a:t>• Counterparty Risk</a:t>
            </a:r>
          </a:p>
          <a:p>
            <a:pPr algn="l">
              <a:lnSpc>
                <a:spcPts val="1100"/>
              </a:lnSpc>
              <a:spcAft>
                <a:spcPts val="200"/>
              </a:spcAft>
            </a:pPr>
            <a:r>
              <a:rPr sz="800" b="0">
                <a:latin typeface="Barlow"/>
              </a:rPr>
              <a:t>• VAR</a:t>
            </a:r>
          </a:p>
          <a:p>
            <a:pPr algn="l">
              <a:lnSpc>
                <a:spcPts val="1100"/>
              </a:lnSpc>
              <a:spcAft>
                <a:spcPts val="200"/>
              </a:spcAft>
            </a:pPr>
            <a:r>
              <a:rPr sz="800" b="0">
                <a:latin typeface="Barlow"/>
              </a:rPr>
              <a:t>• EAD</a:t>
            </a:r>
          </a:p>
          <a:p>
            <a:pPr algn="l">
              <a:lnSpc>
                <a:spcPts val="1100"/>
              </a:lnSpc>
              <a:spcAft>
                <a:spcPts val="200"/>
              </a:spcAft>
            </a:pPr>
            <a:r>
              <a:rPr sz="800" b="0">
                <a:latin typeface="Barlow"/>
              </a:rPr>
              <a:t>• RWA</a:t>
            </a:r>
          </a:p>
          <a:p>
            <a:pPr algn="l">
              <a:lnSpc>
                <a:spcPts val="1100"/>
              </a:lnSpc>
              <a:spcAft>
                <a:spcPts val="200"/>
              </a:spcAft>
            </a:pPr>
            <a:r>
              <a:rPr sz="800" b="0">
                <a:latin typeface="Barlow"/>
              </a:rPr>
              <a:t>• Data Visualization</a:t>
            </a:r>
          </a:p>
          <a:p>
            <a:pPr algn="l">
              <a:lnSpc>
                <a:spcPts val="1100"/>
              </a:lnSpc>
              <a:spcAft>
                <a:spcPts val="200"/>
              </a:spcAft>
            </a:pPr>
            <a:r>
              <a:rPr sz="800" b="0">
                <a:latin typeface="Barlow"/>
              </a:rPr>
              <a:t>• Statistical Modeling</a:t>
            </a:r>
          </a:p>
          <a:p>
            <a:pPr algn="l">
              <a:lnSpc>
                <a:spcPts val="1100"/>
              </a:lnSpc>
              <a:spcAft>
                <a:spcPts val="200"/>
              </a:spcAft>
            </a:pPr>
            <a:r>
              <a:rPr sz="800" b="0">
                <a:latin typeface="Barlow"/>
              </a:rPr>
              <a:t>• Lean Six Sigma</a:t>
            </a:r>
          </a:p>
          <a:p>
            <a:pPr algn="l">
              <a:lnSpc>
                <a:spcPts val="1100"/>
              </a:lnSpc>
              <a:spcAft>
                <a:spcPts val="200"/>
              </a:spcAft>
            </a:pPr>
            <a:r>
              <a:rPr sz="800" b="0">
                <a:latin typeface="Barlow"/>
              </a:rPr>
              <a:t>• Renewable Energy</a:t>
            </a:r>
          </a:p>
          <a:p>
            <a:pPr>
              <a:spcBef>
                <a:spcPts val="1200"/>
              </a:spcBef>
              <a:spcAft>
                <a:spcPts val="400"/>
              </a:spcAft>
            </a:pPr>
            <a:r>
              <a:rPr sz="900" b="1">
                <a:solidFill>
                  <a:srgbClr val="00ACC4"/>
                </a:solidFill>
                <a:latin typeface="Barlow"/>
              </a:rPr>
              <a:t>INDUSTRY EXPERTISE</a:t>
            </a:r>
          </a:p>
          <a:p>
            <a:pPr algn="l">
              <a:lnSpc>
                <a:spcPts val="1100"/>
              </a:lnSpc>
              <a:spcAft>
                <a:spcPts val="200"/>
              </a:spcAft>
            </a:pPr>
            <a:r>
              <a:rPr sz="800" b="0">
                <a:latin typeface="Barlow"/>
              </a:rPr>
              <a:t>• Credit Risk</a:t>
            </a:r>
          </a:p>
          <a:p>
            <a:pPr algn="l">
              <a:lnSpc>
                <a:spcPts val="1100"/>
              </a:lnSpc>
              <a:spcAft>
                <a:spcPts val="200"/>
              </a:spcAft>
            </a:pPr>
            <a:r>
              <a:rPr sz="800" b="0">
                <a:latin typeface="Barlow"/>
              </a:rPr>
              <a:t>• Regulatory Capital</a:t>
            </a:r>
          </a:p>
          <a:p>
            <a:pPr algn="l">
              <a:lnSpc>
                <a:spcPts val="1100"/>
              </a:lnSpc>
              <a:spcAft>
                <a:spcPts val="200"/>
              </a:spcAft>
            </a:pPr>
            <a:r>
              <a:rPr sz="800" b="0">
                <a:latin typeface="Barlow"/>
              </a:rPr>
              <a:t>• Banking &amp; Financial Services</a:t>
            </a:r>
          </a:p>
          <a:p>
            <a:pPr>
              <a:spcBef>
                <a:spcPts val="1200"/>
              </a:spcBef>
              <a:spcAft>
                <a:spcPts val="400"/>
              </a:spcAft>
            </a:pPr>
            <a:r>
              <a:rPr sz="900" b="1">
                <a:solidFill>
                  <a:srgbClr val="00ACC4"/>
                </a:solidFill>
                <a:latin typeface="Barlow"/>
              </a:rPr>
              <a:t>EDUCATION</a:t>
            </a:r>
          </a:p>
          <a:p>
            <a:pPr algn="l">
              <a:lnSpc>
                <a:spcPts val="1100"/>
              </a:lnSpc>
              <a:spcAft>
                <a:spcPts val="200"/>
              </a:spcAft>
            </a:pPr>
            <a:r>
              <a:rPr sz="800" b="0">
                <a:latin typeface="Barlow"/>
              </a:rPr>
              <a:t>• POST GRADUATE DIPLOMA IN MANAGEMENT (MBA)</a:t>
            </a:r>
          </a:p>
          <a:p>
            <a:pPr algn="l">
              <a:lnSpc>
                <a:spcPts val="1100"/>
              </a:lnSpc>
              <a:spcAft>
                <a:spcPts val="200"/>
              </a:spcAft>
            </a:pPr>
            <a:r>
              <a:rPr sz="800" b="0">
                <a:latin typeface="Barlow"/>
              </a:rPr>
              <a:t>• BACHELOR OF ENGINEERING</a:t>
            </a:r>
          </a:p>
        </p:txBody>
      </p:sp>
      <p:sp>
        <p:nvSpPr>
          <p:cNvPr id="4" name="Text Placeholder 144">
            <a:extLst>
              <a:ext uri="{FF2B5EF4-FFF2-40B4-BE49-F238E27FC236}">
                <a16:creationId xmlns:a16="http://schemas.microsoft.com/office/drawing/2014/main" id="{8D0EE6E6-4543-7AB0-F39E-8600E0291205}"/>
              </a:ext>
            </a:extLst>
          </p:cNvPr>
          <p:cNvSpPr txBox="1"/>
          <p:nvPr/>
        </p:nvSpPr>
        <p:spPr>
          <a:xfrm>
            <a:off x="4940300" y="182880"/>
            <a:ext cx="6854825" cy="5694363"/>
          </a:xfrm>
          <a:prstGeom prst="rect">
            <a:avLst/>
          </a:prstGeom>
          <a:noFill/>
          <a:ln cap="flat">
            <a:noFill/>
          </a:ln>
        </p:spPr>
        <p:txBody>
          <a:bodyPr lIns="0" tIns="0" rIns="0" bIns="0" wrap="square"/>
          <a:lstStyle/>
          <a:p>
            <a:pPr marL="0" marR="0" lvl="0" indent="0" algn="l" defTabSz="914354" rtl="0" eaLnBrk="1" fontAlgn="auto" latinLnBrk="0" hangingPunct="1">
              <a:lnSpc>
                <a:spcPct val="100000"/>
              </a:lnSpc>
              <a:spcBef>
                <a:spcPts val="150"/>
              </a:spcBef>
              <a:spcAft>
                <a:spcPts val="150"/>
              </a:spcAft>
              <a:buClrTx/>
              <a:buSzTx/>
              <a:buFontTx/>
              <a:buNone/>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PROFESSIONAL EXPERIENCE</a:t>
            </a:r>
          </a:p>
          <a:p>
            <a:pPr lvl="0">
              <a:lnSpc>
                <a:spcPts val="1000"/>
              </a:lnSpc>
              <a:spcBef>
                <a:spcPts val="100"/>
              </a:spcBef>
              <a:spcAft>
                <a:spcPts val="200"/>
              </a:spcAft>
              <a:defRPr/>
            </a:pPr>
            <a:r>
              <a:rPr sz="800" b="1">
                <a:latin typeface="Barlow"/>
              </a:rPr>
              <a:t>Rishabh Chaturvedi has 9 years of experience as a Risk and Data Analyst specializing in Credit Risk and Regulatory Capital within the Banking and Financial Services industry.</a:t>
            </a:r>
            <a:r>
              <a:rPr sz="800" b="0">
                <a:latin typeface="Barlow"/>
              </a:rPr>
              <a:t> He leverages advanced Python, SQL, Power Query and Power BI to transform financial datasets into actionable risk models, exposure monitors and strategic dashboards. His portfolio includes credit risk profiling, delinquency tracking, market risk visualization, and development of risk analytics solutions for trading and treasury functions. He has led collaborations with underwriting, product, and technology teams to design scenario analyses, model performance tracking, and automated reporting pipelines. Additionally, he possesses strong expertise in regulatory frameworks such as Basel‑III/3.1, counter‑party risk metrics, VAR and EAD calculations, and has delivered risk insights to senior stakeholders.</a:t>
            </a:r>
            <a:endParaRPr kumimoji="0" lang="en-US" sz="900" i="0" u="none" strike="noStrike" kern="1200" cap="none" spc="0" normalizeH="0" baseline="0" noProof="0" dirty="0">
              <a:ln>
                <a:noFill/>
              </a:ln>
              <a:solidFill>
                <a:srgbClr val="00ACC4"/>
              </a:solidFill>
              <a:effectLst/>
              <a:uLnTx/>
              <a:uFillTx/>
              <a:latin typeface="Barlow" panose="00000500000000000000" pitchFamily="2" charset="0"/>
              <a:cs typeface="Arial" pitchFamily="34"/>
            </a:endParaRPr>
          </a:p>
          <a:p>
            <a:pPr lvl="0">
              <a:spcBef>
                <a:spcPts val="1200"/>
              </a:spcBef>
              <a:spcAft>
                <a:spcPts val="400"/>
              </a:spcAft>
              <a:defRPr/>
            </a:pPr>
            <a:r>
              <a:rPr kumimoji="0" lang="en-GB"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rPr>
              <a:t>MAJOR PROJECTS</a:t>
            </a:r>
          </a:p>
          <a:p>
            <a:pPr>
              <a:lnSpc>
                <a:spcPts val="1000"/>
              </a:lnSpc>
              <a:spcBef>
                <a:spcPts val="300"/>
              </a:spcBef>
              <a:spcAft>
                <a:spcPts val="50"/>
              </a:spcAft>
            </a:pPr>
            <a:r>
              <a:rPr b="1" sz="800">
                <a:latin typeface="Barlow"/>
              </a:rPr>
              <a:t>Banking – Credit Risk Portfolio Monitoring – Risk and Data Analyst</a:t>
            </a:r>
          </a:p>
          <a:p>
            <a:pPr>
              <a:lnSpc>
                <a:spcPts val="950"/>
              </a:lnSpc>
              <a:spcBef>
                <a:spcPts val="100"/>
              </a:spcBef>
              <a:spcAft>
                <a:spcPts val="100"/>
              </a:spcAft>
            </a:pPr>
            <a:r>
              <a:rPr sz="800" b="0">
                <a:latin typeface="Barlow"/>
              </a:rPr>
              <a:t>• Developed analytical models to assess customer credit profiles, transaction patterns and bureau data, enabling proactive credit strategy adjustments.</a:t>
            </a:r>
          </a:p>
          <a:p>
            <a:pPr>
              <a:lnSpc>
                <a:spcPts val="1000"/>
              </a:lnSpc>
              <a:spcBef>
                <a:spcPts val="300"/>
              </a:spcBef>
              <a:spcAft>
                <a:spcPts val="50"/>
              </a:spcAft>
            </a:pPr>
            <a:r>
              <a:rPr b="1" sz="800">
                <a:latin typeface="Barlow"/>
              </a:rPr>
              <a:t>Renewable Energy Trading – Market Risk Management – Risk Advisor</a:t>
            </a:r>
          </a:p>
          <a:p>
            <a:pPr>
              <a:lnSpc>
                <a:spcPts val="950"/>
              </a:lnSpc>
              <a:spcBef>
                <a:spcPts val="100"/>
              </a:spcBef>
              <a:spcAft>
                <a:spcPts val="100"/>
              </a:spcAft>
            </a:pPr>
            <a:r>
              <a:rPr sz="800" b="0">
                <a:latin typeface="Barlow"/>
              </a:rPr>
              <a:t>• Implemented market risk measurement frameworks and built interactive Power BI dashboards that visualized real‑time open positions, P&amp;L and key financial metrics for trading desks.</a:t>
            </a:r>
          </a:p>
          <a:p>
            <a:pPr>
              <a:lnSpc>
                <a:spcPts val="950"/>
              </a:lnSpc>
              <a:spcBef>
                <a:spcPts val="100"/>
              </a:spcBef>
              <a:spcAft>
                <a:spcPts val="100"/>
              </a:spcAft>
            </a:pPr>
            <a:r>
              <a:rPr sz="800" b="0">
                <a:latin typeface="Barlow"/>
              </a:rPr>
              <a:t>• Collaborated with trading teams to conduct forward‑looking analyses, optimizing hedging strategies and aligning exposures with the company’s risk tolerance thresholds.</a:t>
            </a:r>
          </a:p>
          <a:p>
            <a:pPr>
              <a:lnSpc>
                <a:spcPts val="1000"/>
              </a:lnSpc>
              <a:spcBef>
                <a:spcPts val="300"/>
              </a:spcBef>
              <a:spcAft>
                <a:spcPts val="50"/>
              </a:spcAft>
            </a:pPr>
            <a:r>
              <a:rPr b="1" sz="800">
                <a:latin typeface="Barlow"/>
              </a:rPr>
              <a:t>Financial Services – Operational Risk Reporting – Business Operation Analyst</a:t>
            </a:r>
          </a:p>
          <a:p>
            <a:pPr>
              <a:lnSpc>
                <a:spcPts val="950"/>
              </a:lnSpc>
              <a:spcBef>
                <a:spcPts val="100"/>
              </a:spcBef>
              <a:spcAft>
                <a:spcPts val="100"/>
              </a:spcAft>
            </a:pPr>
            <a:r>
              <a:rPr sz="800" b="0">
                <a:latin typeface="Barlow"/>
              </a:rPr>
              <a:t>• Defined and documented standard operating procedures that streamlined credit and market risk report generation, improving data integrity and reducing processing time by 20%.</a:t>
            </a:r>
          </a:p>
          <a:p>
            <a:pPr>
              <a:lnSpc>
                <a:spcPts val="950"/>
              </a:lnSpc>
              <a:spcBef>
                <a:spcPts val="100"/>
              </a:spcBef>
              <a:spcAft>
                <a:spcPts val="100"/>
              </a:spcAft>
            </a:pPr>
            <a:r>
              <a:rPr sz="800" b="0">
                <a:latin typeface="Barlow"/>
              </a:rPr>
              <a:t>• Designed and delivered interactive dashboards using Power BI and SQL, translating stakeholder requirements into visual analytics that supported strategic business decisions.</a:t>
            </a:r>
          </a:p>
          <a:p>
            <a:pPr>
              <a:lnSpc>
                <a:spcPts val="1000"/>
              </a:lnSpc>
              <a:spcBef>
                <a:spcPts val="300"/>
              </a:spcBef>
              <a:spcAft>
                <a:spcPts val="50"/>
              </a:spcAft>
            </a:pPr>
            <a:r>
              <a:rPr b="1" sz="800">
                <a:latin typeface="Barlow"/>
              </a:rPr>
              <a:t>Mortgage Lending – Credit Analysis – Credit Analyst</a:t>
            </a:r>
          </a:p>
          <a:p>
            <a:pPr>
              <a:lnSpc>
                <a:spcPts val="950"/>
              </a:lnSpc>
              <a:spcBef>
                <a:spcPts val="100"/>
              </a:spcBef>
              <a:spcAft>
                <a:spcPts val="100"/>
              </a:spcAft>
            </a:pPr>
            <a:r>
              <a:rPr sz="800" b="0">
                <a:latin typeface="Barlow"/>
              </a:rPr>
              <a:t>• Reviewed and analyzed US mortgage loan applications against FHA, FNMA and FHLMC guidelines, assessing credit scores, LTV ratios and property valuations to mitigate underwriting risk.</a:t>
            </a:r>
          </a:p>
          <a:p>
            <a:pPr>
              <a:lnSpc>
                <a:spcPts val="950"/>
              </a:lnSpc>
              <a:spcBef>
                <a:spcPts val="100"/>
              </a:spcBef>
              <a:spcAft>
                <a:spcPts val="100"/>
              </a:spcAft>
            </a:pPr>
            <a:r>
              <a:rPr sz="800" b="0">
                <a:latin typeface="Barlow"/>
              </a:rPr>
              <a:t>• Evaluated borrower income, assets and debt metrics using Encompass and Desktop Underwriter, generating comprehensive credit reports that informed loan approval decisions.</a:t>
            </a:r>
          </a:p>
          <a:p>
            <a:pPr>
              <a:lnSpc>
                <a:spcPts val="1000"/>
              </a:lnSpc>
              <a:spcBef>
                <a:spcPts val="300"/>
              </a:spcBef>
              <a:spcAft>
                <a:spcPts val="50"/>
              </a:spcAft>
            </a:pPr>
            <a:r>
              <a:rPr b="1" sz="800">
                <a:latin typeface="Barlow"/>
              </a:rPr>
              <a:t>Retail Banking – Personal Loan Credit Management – Associate Credit Manager</a:t>
            </a:r>
          </a:p>
          <a:p>
            <a:pPr>
              <a:lnSpc>
                <a:spcPts val="950"/>
              </a:lnSpc>
              <a:spcBef>
                <a:spcPts val="100"/>
              </a:spcBef>
              <a:spcAft>
                <a:spcPts val="100"/>
              </a:spcAft>
            </a:pPr>
            <a:r>
              <a:rPr sz="800" b="0">
                <a:latin typeface="Barlow"/>
              </a:rPr>
              <a:t>• Assessed personal loan proposals against credit policies and TAT standards, conducting data analysis and dashboard creation to improve loan processing efficiency.</a:t>
            </a:r>
          </a:p>
          <a:p>
            <a:pPr>
              <a:lnSpc>
                <a:spcPts val="950"/>
              </a:lnSpc>
              <a:spcBef>
                <a:spcPts val="100"/>
              </a:spcBef>
              <a:spcAft>
                <a:spcPts val="100"/>
              </a:spcAft>
            </a:pPr>
            <a:r>
              <a:rPr sz="800" b="0">
                <a:latin typeface="Barlow"/>
              </a:rPr>
              <a:t>• Managed external vendors and quasi‑underwriters, delivering training and performance monitoring that enhanced underwriting quality and reduced turnaround time.</a:t>
            </a:r>
          </a:p>
          <a:p>
            <a:pPr>
              <a:lnSpc>
                <a:spcPts val="1000"/>
              </a:lnSpc>
              <a:spcBef>
                <a:spcPts val="300"/>
              </a:spcBef>
              <a:spcAft>
                <a:spcPts val="50"/>
              </a:spcAft>
            </a:pPr>
            <a:r>
              <a:rPr b="1" sz="800">
                <a:latin typeface="Barlow"/>
              </a:rPr>
              <a:t>Technology – Research Applications Development – Software Engineer</a:t>
            </a:r>
          </a:p>
          <a:p>
            <a:pPr>
              <a:lnSpc>
                <a:spcPts val="950"/>
              </a:lnSpc>
              <a:spcBef>
                <a:spcPts val="100"/>
              </a:spcBef>
              <a:spcAft>
                <a:spcPts val="100"/>
              </a:spcAft>
            </a:pPr>
            <a:r>
              <a:rPr sz="800" b="0">
                <a:latin typeface="Barlow"/>
              </a:rPr>
              <a:t>• Troubleshot and upgraded research application platforms, integrating third‑party APIs and ensuring stable Java and Python code deployments across server environments.</a:t>
            </a:r>
          </a:p>
          <a:p>
            <a:pPr>
              <a:lnSpc>
                <a:spcPts val="950"/>
              </a:lnSpc>
              <a:spcBef>
                <a:spcPts val="100"/>
              </a:spcBef>
              <a:spcAft>
                <a:spcPts val="100"/>
              </a:spcAft>
            </a:pPr>
            <a:r>
              <a:rPr sz="800" b="0">
                <a:latin typeface="Barlow"/>
              </a:rPr>
              <a:t>• Analyzed user interface and server issues, delivering compatible and efficient code solutions that improved application performance and user satisfaction.</a:t>
            </a:r>
          </a:p>
        </p:txBody>
      </p:sp>
    </p:spTree>
    <p:extLst>
      <p:ext uri="{BB962C8B-B14F-4D97-AF65-F5344CB8AC3E}">
        <p14:creationId xmlns:p14="http://schemas.microsoft.com/office/powerpoint/2010/main" val="1828036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d90964-91d3-4c01-ab00-563f95f00a38}" enabled="0" method="" siteId="{a9d90964-91d3-4c01-ab00-563f95f00a38}" removed="1"/>
  <clbl:label id="{da623df2-7a25-4a8f-b59b-3a3459c1375f}" enabled="1" method="Standard" siteId="{16532572-d567-4d67-8727-f12f7bb6aed3}" removed="0"/>
</clbl:labelList>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Widescreen</PresentationFormat>
  <Paragraphs>24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Barlow</vt:lpstr>
      <vt:lpstr>Barlow Condensed Medium</vt:lpstr>
      <vt:lpstr>Calibri</vt:lpstr>
      <vt:lpstr>Office Theme</vt:lpstr>
      <vt:lpstr>FirstName  LastName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2026-07-01T07:48:12Z</dcterms:created>
  <dcterms:modified xsi:type="dcterms:W3CDTF">2026-08-09T04:36:36Z</dcterms:modified>
</cp:coreProperties>
</file>