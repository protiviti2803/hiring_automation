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3"/>
  </p:notesMasterIdLst>
  <p:sldIdLst>
    <p:sldId id="2147481644"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84E53-E109-4512-BEFF-25386603050E}" v="11" dt="2026-07-31T04:48:3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4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A64A4-8F04-4D21-AE85-D21C24FFE365}"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DEDC6-57B9-4841-8E16-92778E2EE4C3}" type="slidenum">
              <a:rPr lang="en-GB" smtClean="0"/>
              <a:t>‹#›</a:t>
            </a:fld>
            <a:endParaRPr lang="en-GB"/>
          </a:p>
        </p:txBody>
      </p:sp>
    </p:spTree>
    <p:extLst>
      <p:ext uri="{BB962C8B-B14F-4D97-AF65-F5344CB8AC3E}">
        <p14:creationId xmlns:p14="http://schemas.microsoft.com/office/powerpoint/2010/main" val="25323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D4BC8-1281-C19D-235A-60E677C5EEF8}"/>
            </a:ext>
          </a:extLst>
        </p:cNvPr>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D470BD2E-7066-C909-CB27-AE3F6604595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GB"/>
          </a:p>
        </p:txBody>
      </p:sp>
      <p:sp>
        <p:nvSpPr>
          <p:cNvPr id="8195" name="Notes Placeholder 2">
            <a:extLst>
              <a:ext uri="{FF2B5EF4-FFF2-40B4-BE49-F238E27FC236}">
                <a16:creationId xmlns:a16="http://schemas.microsoft.com/office/drawing/2014/main" id="{AD3C7FCB-DE82-E801-3860-D9A4BA9A724B}"/>
              </a:ext>
            </a:extLst>
          </p:cNvPr>
          <p:cNvSpPr>
            <a:spLocks noGrp="1" noChangeArrowheads="1"/>
          </p:cNvSpPr>
          <p:nvPr>
            <p:ph type="body"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a:p>
        </p:txBody>
      </p:sp>
      <p:sp>
        <p:nvSpPr>
          <p:cNvPr id="4" name="Slide Number Placeholder 3">
            <a:extLst>
              <a:ext uri="{FF2B5EF4-FFF2-40B4-BE49-F238E27FC236}">
                <a16:creationId xmlns:a16="http://schemas.microsoft.com/office/drawing/2014/main" id="{19547B8F-F91E-BCD3-AA0F-E9E37F41737B}"/>
              </a:ext>
            </a:extLst>
          </p:cNvPr>
          <p:cNvSpPr txBox="1"/>
          <p:nvPr/>
        </p:nvSpPr>
        <p:spPr>
          <a:xfrm>
            <a:off x="3884613" y="8685213"/>
            <a:ext cx="2971800" cy="458787"/>
          </a:xfrm>
          <a:prstGeom prst="rect">
            <a:avLst/>
          </a:prstGeom>
          <a:noFill/>
          <a:ln cap="flat">
            <a:noFill/>
          </a:ln>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ECC7B1C-B014-45AA-9113-D5F76C866331}" type="slidenum">
              <a:rPr kumimoji="0" sz="1800" b="0" i="0" u="none" strike="noStrike" kern="0" cap="none" spc="0" normalizeH="0" baseline="0" noProof="0">
                <a:ln>
                  <a:noFill/>
                </a:ln>
                <a:solidFill>
                  <a:srgbClr val="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1</a:t>
            </a:fld>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4324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34A1-1FFD-08A9-06D7-AF30594B83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D1230CD-156A-5322-7C6F-F1786ABFBB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815334-3D37-E4A0-9F87-3F9943024EAD}"/>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241E5B0E-6DF3-4C94-80B5-B344256F84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15EA3B-0FB6-A10E-E397-57E67C95D7E9}"/>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8540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B0CD9-A699-2717-2440-DBE55388D81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7942CF-765C-3B93-0198-85FD3B9F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9B2B66-9BB1-31B0-7258-2B2CD677E0B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5A1E8919-CC3D-40EB-0712-CA2C4E68E6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E4DF65-BF11-6907-B469-E87B23EEAEC1}"/>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546695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4E6-9A26-2479-DDBE-9940493244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8E8FD20-3A4C-C5E4-49CF-5175CE1ACE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DE97AE-DEC5-B29C-1826-7342092146F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4961412C-37EB-0637-DC38-DC5DC5882B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F9ABED-CB0E-8552-F7F2-9A2B12AA323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422779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EA923-E110-B6EA-5EC9-98103E774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D3867EC-A55A-1CCF-E6A3-61E172B26E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5972F9E-5C5D-4FB1-56A8-AF44B1035A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B4F12B-DCBB-5FF2-AFEC-D4FA9E136863}"/>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17C4DA59-D6BC-37DF-42A0-1914F600AF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86C43A-2724-E4EB-B374-00BFE2BECC4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425553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C665B-0C45-E569-5B45-1663469A027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2DBF56B-0D8B-BDC9-7C34-509FB1B766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6FD2B1-51F1-CACE-7E5A-397C2D14DA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AF1F5EF-544A-F5E2-2189-FF39D610DC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C2E1F-8241-F6E6-6EAF-1B5A4A5B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DC2B24-FABF-4D40-4480-0C4006FC0B4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8" name="Footer Placeholder 7">
            <a:extLst>
              <a:ext uri="{FF2B5EF4-FFF2-40B4-BE49-F238E27FC236}">
                <a16:creationId xmlns:a16="http://schemas.microsoft.com/office/drawing/2014/main" id="{430A03A6-8A28-E7DE-0CAB-307860EE96E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1E9491C-6CD8-AC62-5824-73DF6ED51C4F}"/>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10715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44D-69AA-7E53-2516-A3C0E26AD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1CE76F-E652-39CC-A926-61ABDE146F9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4" name="Footer Placeholder 3">
            <a:extLst>
              <a:ext uri="{FF2B5EF4-FFF2-40B4-BE49-F238E27FC236}">
                <a16:creationId xmlns:a16="http://schemas.microsoft.com/office/drawing/2014/main" id="{E6332CF3-06BC-565D-D3F0-22FDEB3BEC4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915E833-C050-F55F-BC6B-EC80489E02AA}"/>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00011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DE0617-1D22-C81C-4B7A-5008407770E2}"/>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3" name="Footer Placeholder 2">
            <a:extLst>
              <a:ext uri="{FF2B5EF4-FFF2-40B4-BE49-F238E27FC236}">
                <a16:creationId xmlns:a16="http://schemas.microsoft.com/office/drawing/2014/main" id="{899C5727-26BC-BC90-635E-CC4B22DFAB2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EECCC1E-4342-A6B5-CD05-A51D2917B05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94419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D91EA-5818-3787-0FA2-E80B7E458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F8818D9-626D-7098-2499-B3F4AC5EE6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D75A300-833E-4681-E759-ED24A4C552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E3D44-DC37-B14D-CEFB-13EDEBF11D11}"/>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7227B9F2-FDDD-D257-7A44-C93F869C8C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5528D-F3C5-B55A-53DA-6A78F1656BCD}"/>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264367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66AFF-E171-AC1E-127E-3D9A91B43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43FFACB-40AB-3A85-15F6-340B24D8B4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E98DB6C-9BCC-DF84-4CF8-628B18BDA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FD1EC9-9C0F-BA50-E571-E14F0171D2A5}"/>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6" name="Footer Placeholder 5">
            <a:extLst>
              <a:ext uri="{FF2B5EF4-FFF2-40B4-BE49-F238E27FC236}">
                <a16:creationId xmlns:a16="http://schemas.microsoft.com/office/drawing/2014/main" id="{CD7601D6-CD86-BBDF-C093-91865EEE837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B6F24F-996D-EFC3-54BE-881CFEFE8782}"/>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165081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971C-AA66-56E3-4CB5-BC0D2D77A1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E785955-CB23-0E7C-6D92-908A34CB6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AC84CE-69E1-2DC6-732D-ED52AB3A2CFE}"/>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1D2F265E-B5E7-22FB-ADE8-6F17DD7526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7EC371-A4B0-55E6-3F27-A60167CF6235}"/>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2495235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17F69E-D4D2-1140-BA86-C9AF6DCCAF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6E8BC8-C21D-E775-EA4C-1FAC1FE487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3FACC-3AC4-95DA-DE9A-EC74E53EE064}"/>
              </a:ext>
            </a:extLst>
          </p:cNvPr>
          <p:cNvSpPr>
            <a:spLocks noGrp="1"/>
          </p:cNvSpPr>
          <p:nvPr>
            <p:ph type="dt" sz="half" idx="10"/>
          </p:nvPr>
        </p:nvSpPr>
        <p:spPr/>
        <p:txBody>
          <a:body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70C4A84A-BFD8-CF9A-06CA-8242879D4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0263-5572-CAB9-D489-6B13C5C4588E}"/>
              </a:ext>
            </a:extLst>
          </p:cNvPr>
          <p:cNvSpPr>
            <a:spLocks noGrp="1"/>
          </p:cNvSpPr>
          <p:nvPr>
            <p:ph type="sldNum" sz="quarter" idx="12"/>
          </p:nvPr>
        </p:nvSpPr>
        <p:spPr/>
        <p:txBody>
          <a:bodyPr/>
          <a:lstStyle/>
          <a:p>
            <a:fld id="{A5A10AC3-96BB-47F6-8ECD-DBB4AE484DD7}" type="slidenum">
              <a:rPr lang="en-GB" smtClean="0"/>
              <a:t>‹#›</a:t>
            </a:fld>
            <a:endParaRPr lang="en-GB"/>
          </a:p>
        </p:txBody>
      </p:sp>
    </p:spTree>
    <p:extLst>
      <p:ext uri="{BB962C8B-B14F-4D97-AF65-F5344CB8AC3E}">
        <p14:creationId xmlns:p14="http://schemas.microsoft.com/office/powerpoint/2010/main" val="3987679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Resume w/picture map">
    <p:spTree>
      <p:nvGrpSpPr>
        <p:cNvPr id="1" name=""/>
        <p:cNvGrpSpPr/>
        <p:nvPr/>
      </p:nvGrpSpPr>
      <p:grpSpPr>
        <a:xfrm>
          <a:off x="0" y="0"/>
          <a:ext cx="0" cy="0"/>
          <a:chOff x="0" y="0"/>
          <a:chExt cx="0" cy="0"/>
        </a:xfrm>
      </p:grpSpPr>
      <p:pic>
        <p:nvPicPr>
          <p:cNvPr id="2" name="Picture 13" descr="A blue rectangular object with black border&#10;&#10;Description automatically generated">
            <a:extLst>
              <a:ext uri="{FF2B5EF4-FFF2-40B4-BE49-F238E27FC236}">
                <a16:creationId xmlns:a16="http://schemas.microsoft.com/office/drawing/2014/main" id="{BA69870E-4E56-8C1E-6843-424EC437D7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 y="-9525"/>
            <a:ext cx="2681288" cy="689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8">
            <a:extLst>
              <a:ext uri="{FF2B5EF4-FFF2-40B4-BE49-F238E27FC236}">
                <a16:creationId xmlns:a16="http://schemas.microsoft.com/office/drawing/2014/main" id="{F19CF2BB-74C1-A092-3F63-58C3BC5AA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1825" y="6413500"/>
            <a:ext cx="80962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14"/>
          <p:cNvSpPr txBox="1">
            <a:spLocks noGrp="1"/>
          </p:cNvSpPr>
          <p:nvPr>
            <p:ph type="body" idx="4294967295"/>
          </p:nvPr>
        </p:nvSpPr>
        <p:spPr>
          <a:xfrm>
            <a:off x="590546" y="3231992"/>
            <a:ext cx="1990091" cy="446272"/>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Title,</a:t>
            </a:r>
            <a:br>
              <a:rPr lang="en-GB"/>
            </a:br>
            <a:r>
              <a:rPr lang="en-GB"/>
              <a:t>Solution/Industry</a:t>
            </a:r>
            <a:endParaRPr lang="en-US"/>
          </a:p>
        </p:txBody>
      </p:sp>
      <p:sp>
        <p:nvSpPr>
          <p:cNvPr id="5" name="Picture Placeholder 23"/>
          <p:cNvSpPr txBox="1">
            <a:spLocks noGrp="1"/>
          </p:cNvSpPr>
          <p:nvPr>
            <p:ph type="pic" idx="4294967295"/>
          </p:nvPr>
        </p:nvSpPr>
        <p:spPr>
          <a:xfrm>
            <a:off x="590546" y="580579"/>
            <a:ext cx="1485150" cy="1485150"/>
          </a:xfrm>
          <a:solidFill>
            <a:srgbClr val="BDCAD7"/>
          </a:solidFill>
        </p:spPr>
        <p:txBody>
          <a:bodyPr rtlCol="0" anchorCtr="1">
            <a:noAutofit/>
          </a:bodyPr>
          <a:lstStyle>
            <a:lvl1pPr marL="0" indent="0" algn="ctr">
              <a:buNone/>
              <a:defRPr sz="1200"/>
            </a:lvl1pPr>
          </a:lstStyle>
          <a:p>
            <a:pPr lvl="0"/>
            <a:r>
              <a:rPr lang="en-US" noProof="0"/>
              <a:t>Insert headshot</a:t>
            </a:r>
          </a:p>
        </p:txBody>
      </p:sp>
      <p:sp>
        <p:nvSpPr>
          <p:cNvPr id="7" name="Title 1"/>
          <p:cNvSpPr txBox="1">
            <a:spLocks noGrp="1"/>
          </p:cNvSpPr>
          <p:nvPr>
            <p:ph type="title"/>
          </p:nvPr>
        </p:nvSpPr>
        <p:spPr>
          <a:xfrm>
            <a:off x="590546" y="2192347"/>
            <a:ext cx="1990091" cy="990011"/>
          </a:xfrm>
        </p:spPr>
        <p:txBody>
          <a:bodyPr anchor="t">
            <a:normAutofit/>
          </a:bodyPr>
          <a:lstStyle>
            <a:lvl1pPr>
              <a:lnSpc>
                <a:spcPts val="3540"/>
              </a:lnSpc>
              <a:defRPr lang="en-GB">
                <a:solidFill>
                  <a:srgbClr val="FFFFFF"/>
                </a:solidFill>
                <a:latin typeface="Barlow Condensed Medium" pitchFamily="2"/>
              </a:defRPr>
            </a:lvl1pPr>
          </a:lstStyle>
          <a:p>
            <a:pPr lvl="0"/>
            <a:r>
              <a:rPr lang="en-GB"/>
              <a:t>Firstname</a:t>
            </a:r>
            <a:br>
              <a:rPr lang="en-GB"/>
            </a:br>
            <a:r>
              <a:rPr lang="en-GB"/>
              <a:t>Lastname</a:t>
            </a:r>
            <a:endParaRPr lang="en-US"/>
          </a:p>
        </p:txBody>
      </p:sp>
      <p:sp>
        <p:nvSpPr>
          <p:cNvPr id="8" name="Text Placeholder 14"/>
          <p:cNvSpPr txBox="1">
            <a:spLocks noGrp="1"/>
          </p:cNvSpPr>
          <p:nvPr>
            <p:ph type="body" idx="4294967295"/>
          </p:nvPr>
        </p:nvSpPr>
        <p:spPr>
          <a:xfrm>
            <a:off x="590546" y="3861255"/>
            <a:ext cx="1990091" cy="179807"/>
          </a:xfrm>
        </p:spPr>
        <p:txBody>
          <a:bodyPr>
            <a:noAutofit/>
          </a:bodyPr>
          <a:lstStyle>
            <a:lvl1pPr marL="0" indent="0">
              <a:buNone/>
              <a:defRPr lang="en-GB" sz="1000">
                <a:solidFill>
                  <a:srgbClr val="FFFFFF"/>
                </a:solidFill>
                <a:latin typeface="Arial" pitchFamily="34"/>
                <a:cs typeface="Arial" pitchFamily="34"/>
              </a:defRPr>
            </a:lvl1pPr>
          </a:lstStyle>
          <a:p>
            <a:pPr lvl="0"/>
            <a:r>
              <a:rPr lang="en-GB"/>
              <a:t>City</a:t>
            </a:r>
            <a:endParaRPr lang="en-US"/>
          </a:p>
        </p:txBody>
      </p:sp>
      <p:sp>
        <p:nvSpPr>
          <p:cNvPr id="9" name="Text Placeholder 14"/>
          <p:cNvSpPr txBox="1">
            <a:spLocks noGrp="1"/>
          </p:cNvSpPr>
          <p:nvPr>
            <p:ph type="body" idx="4294967295"/>
          </p:nvPr>
        </p:nvSpPr>
        <p:spPr>
          <a:xfrm>
            <a:off x="590546" y="4330662"/>
            <a:ext cx="1990091" cy="179807"/>
          </a:xfrm>
        </p:spPr>
        <p:txBody>
          <a:bodyPr>
            <a:noAutofit/>
          </a:bodyPr>
          <a:lstStyle>
            <a:lvl1pPr marL="0" indent="0">
              <a:buNone/>
              <a:defRPr lang="en-GB" sz="1000" b="1">
                <a:solidFill>
                  <a:srgbClr val="FFFFFF"/>
                </a:solidFill>
                <a:latin typeface="Arial" pitchFamily="34"/>
                <a:cs typeface="Arial" pitchFamily="34"/>
              </a:defRPr>
            </a:lvl1pPr>
          </a:lstStyle>
          <a:p>
            <a:pPr lvl="0"/>
            <a:r>
              <a:rPr lang="en-GB"/>
              <a:t>CONTACT</a:t>
            </a:r>
            <a:endParaRPr lang="en-US"/>
          </a:p>
        </p:txBody>
      </p:sp>
      <p:sp>
        <p:nvSpPr>
          <p:cNvPr id="10" name="Text Placeholder 14"/>
          <p:cNvSpPr txBox="1">
            <a:spLocks noGrp="1"/>
          </p:cNvSpPr>
          <p:nvPr>
            <p:ph type="body" idx="4294967295"/>
          </p:nvPr>
        </p:nvSpPr>
        <p:spPr>
          <a:xfrm>
            <a:off x="590546" y="4574624"/>
            <a:ext cx="1990091" cy="461662"/>
          </a:xfrm>
        </p:spPr>
        <p:txBody>
          <a:bodyPr>
            <a:normAutofit/>
          </a:bodyPr>
          <a:lstStyle>
            <a:lvl1pPr marL="0" indent="0">
              <a:spcAft>
                <a:spcPts val="0"/>
              </a:spcAft>
              <a:buNone/>
              <a:defRPr lang="en-GB" sz="1000">
                <a:solidFill>
                  <a:srgbClr val="FFFFFF"/>
                </a:solidFill>
                <a:latin typeface="Arial" pitchFamily="34"/>
                <a:cs typeface="Arial" pitchFamily="34"/>
              </a:defRPr>
            </a:lvl1pPr>
          </a:lstStyle>
          <a:p>
            <a:pPr lvl="0"/>
            <a:r>
              <a:rPr lang="en-GB"/>
              <a:t>P: +XX.XXX.XXXX</a:t>
            </a:r>
            <a:br>
              <a:rPr lang="en-GB"/>
            </a:br>
            <a:r>
              <a:rPr lang="en-GB"/>
              <a:t>C: +XX.XXX.XXXX</a:t>
            </a:r>
            <a:br>
              <a:rPr lang="en-GB"/>
            </a:br>
            <a:r>
              <a:rPr lang="en-GB"/>
              <a:t>xxxxx.xxxxx@protiviti.com</a:t>
            </a:r>
            <a:endParaRPr lang="en-US"/>
          </a:p>
        </p:txBody>
      </p:sp>
      <p:sp>
        <p:nvSpPr>
          <p:cNvPr id="6" name="Slide Number Placeholder 2">
            <a:extLst>
              <a:ext uri="{FF2B5EF4-FFF2-40B4-BE49-F238E27FC236}">
                <a16:creationId xmlns:a16="http://schemas.microsoft.com/office/drawing/2014/main" id="{522CAF5D-E2E0-1F88-E451-FD95F9CF491E}"/>
              </a:ext>
            </a:extLst>
          </p:cNvPr>
          <p:cNvSpPr txBox="1">
            <a:spLocks noGrp="1"/>
          </p:cNvSpPr>
          <p:nvPr>
            <p:ph type="sldNum" sz="quarter" idx="10"/>
          </p:nvPr>
        </p:nvSpPr>
        <p:spPr>
          <a:xfrm>
            <a:off x="3082925" y="6356350"/>
            <a:ext cx="2743200" cy="365125"/>
          </a:xfrm>
        </p:spPr>
        <p:txBody>
          <a:bodyPr/>
          <a:lstStyle>
            <a:lvl1pPr>
              <a:defRPr/>
            </a:lvl1pPr>
          </a:lstStyle>
          <a:p>
            <a:pPr>
              <a:defRPr/>
            </a:pPr>
            <a:fld id="{4F575D67-FB95-4845-AD7B-4332D4B8AAEA}" type="slidenum">
              <a:rPr/>
              <a:pPr>
                <a:defRPr/>
              </a:pPr>
              <a:t>‹#›</a:t>
            </a:fld>
            <a:endParaRPr lang="en-US"/>
          </a:p>
        </p:txBody>
      </p:sp>
    </p:spTree>
    <p:extLst>
      <p:ext uri="{BB962C8B-B14F-4D97-AF65-F5344CB8AC3E}">
        <p14:creationId xmlns:p14="http://schemas.microsoft.com/office/powerpoint/2010/main" val="377197139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3376B0-DC7E-575C-8CDF-FC2734BFDE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A38B5D-C508-3D5C-1477-ECDCCF86BE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9D568E-6B57-C903-D533-CE9E6F764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F223-D90E-448A-98AF-5FDED7DD95DB}" type="datetimeFigureOut">
              <a:rPr lang="en-GB" smtClean="0"/>
              <a:t>04/08/2026</a:t>
            </a:fld>
            <a:endParaRPr lang="en-GB"/>
          </a:p>
        </p:txBody>
      </p:sp>
      <p:sp>
        <p:nvSpPr>
          <p:cNvPr id="5" name="Footer Placeholder 4">
            <a:extLst>
              <a:ext uri="{FF2B5EF4-FFF2-40B4-BE49-F238E27FC236}">
                <a16:creationId xmlns:a16="http://schemas.microsoft.com/office/drawing/2014/main" id="{02FE44A8-6140-DEC7-9BB2-6CBFCD7F75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E940978A-8B25-4726-763A-580747A0E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A10AC3-96BB-47F6-8ECD-DBB4AE484DD7}" type="slidenum">
              <a:rPr lang="en-GB" smtClean="0"/>
              <a:t>‹#›</a:t>
            </a:fld>
            <a:endParaRPr lang="en-GB"/>
          </a:p>
        </p:txBody>
      </p:sp>
    </p:spTree>
    <p:extLst>
      <p:ext uri="{BB962C8B-B14F-4D97-AF65-F5344CB8AC3E}">
        <p14:creationId xmlns:p14="http://schemas.microsoft.com/office/powerpoint/2010/main" val="1286706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B9A09-563F-432E-D7D4-D043B28F6293}"/>
            </a:ext>
          </a:extLst>
        </p:cNvPr>
        <p:cNvGrpSpPr/>
        <p:nvPr/>
      </p:nvGrpSpPr>
      <p:grpSpPr>
        <a:xfrm>
          <a:off x="0" y="0"/>
          <a:ext cx="0" cy="0"/>
          <a:chOff x="0" y="0"/>
          <a:chExt cx="0" cy="0"/>
        </a:xfrm>
      </p:grpSpPr>
      <p:sp>
        <p:nvSpPr>
          <p:cNvPr id="2" name="Title 138">
            <a:extLst>
              <a:ext uri="{FF2B5EF4-FFF2-40B4-BE49-F238E27FC236}">
                <a16:creationId xmlns:a16="http://schemas.microsoft.com/office/drawing/2014/main" id="{C45B6AD6-FBB8-0717-4A42-12712FC2351A}"/>
              </a:ext>
            </a:extLst>
          </p:cNvPr>
          <p:cNvSpPr txBox="1">
            <a:spLocks noGrp="1"/>
          </p:cNvSpPr>
          <p:nvPr>
            <p:ph type="title"/>
          </p:nvPr>
        </p:nvSpPr>
        <p:spPr>
          <a:xfrm>
            <a:off x="448633" y="2241849"/>
            <a:ext cx="1990725" cy="990600"/>
          </a:xfrm>
        </p:spPr>
        <p:txBody>
          <a:bodyPr rtlCol="0">
            <a:normAutofit fontScale="90000"/>
          </a:bodyPr>
          <a:lstStyle/>
          <a:p>
            <a:pPr>
              <a:defRPr/>
            </a:pPr>
            <a:r>
              <a:rPr sz="3200" b="1">
                <a:latin typeface="Barlow"/>
              </a:rPr>
              <a:t>Gaurav Tripathi</a:t>
            </a:r>
            <a:endParaRPr lang="en-US" dirty="0">
              <a:latin typeface="Barlow" panose="00000500000000000000" pitchFamily="2" charset="0"/>
            </a:endParaRPr>
          </a:p>
        </p:txBody>
      </p:sp>
      <p:sp>
        <p:nvSpPr>
          <p:cNvPr id="3" name="Text Placeholder 145">
            <a:extLst>
              <a:ext uri="{FF2B5EF4-FFF2-40B4-BE49-F238E27FC236}">
                <a16:creationId xmlns:a16="http://schemas.microsoft.com/office/drawing/2014/main" id="{2FC05A3F-88C0-49BF-338F-9F1260782657}"/>
              </a:ext>
            </a:extLst>
          </p:cNvPr>
          <p:cNvSpPr txBox="1"/>
          <p:nvPr/>
        </p:nvSpPr>
        <p:spPr>
          <a:xfrm>
            <a:off x="2927350" y="182880"/>
            <a:ext cx="1800225" cy="5232400"/>
          </a:xfrm>
          <a:prstGeom prst="rect">
            <a:avLst/>
          </a:prstGeom>
          <a:noFill/>
          <a:ln cap="flat">
            <a:noFill/>
          </a:ln>
        </p:spPr>
        <p:txBody>
          <a:bodyPr lIns="63500" tIns="63500" rIns="63500" bIns="63500"/>
          <a:lstStyle/>
          <a:p>
            <a:pPr marL="0" marR="0" lvl="2" indent="0" algn="l" defTabSz="914354" rtl="0" eaLnBrk="1" fontAlgn="auto" latinLnBrk="0" hangingPunct="1">
              <a:lnSpc>
                <a:spcPct val="100000"/>
              </a:lnSpc>
              <a:spcBef>
                <a:spcPts val="0"/>
              </a:spcBef>
              <a:spcAft>
                <a:spcPts val="400"/>
              </a:spcAft>
              <a:buClrTx/>
              <a:buSzTx/>
              <a:buFontTx/>
              <a:buNone/>
              <a:tabLst/>
              <a:defRPr sz="1800" b="0" i="0" u="none" strike="noStrike" kern="0" cap="none" spc="0" baseline="0">
                <a:solidFill>
                  <a:srgbClr val="000000"/>
                </a:solidFill>
                <a:uFillTx/>
              </a:defRPr>
            </a:pPr>
            <a:r>
              <a:rPr sz="900" b="1">
                <a:solidFill>
                  <a:srgbClr val="00ACC4"/>
                </a:solidFill>
                <a:latin typeface="Barlow"/>
              </a:rPr>
              <a:t>AREAS OF EXPERTISE</a:t>
            </a:r>
          </a:p>
          <a:p>
            <a:pPr algn="l">
              <a:lnSpc>
                <a:spcPts val="1100"/>
              </a:lnSpc>
              <a:spcAft>
                <a:spcPts val="200"/>
              </a:spcAft>
            </a:pPr>
            <a:r>
              <a:rPr sz="800" b="0">
                <a:latin typeface="Barlow"/>
              </a:rPr>
              <a:t>• Excel</a:t>
            </a:r>
          </a:p>
          <a:p>
            <a:pPr algn="l">
              <a:lnSpc>
                <a:spcPts val="1100"/>
              </a:lnSpc>
              <a:spcAft>
                <a:spcPts val="200"/>
              </a:spcAft>
            </a:pPr>
            <a:r>
              <a:rPr sz="800" b="0">
                <a:latin typeface="Barlow"/>
              </a:rPr>
              <a:t>• SQL</a:t>
            </a:r>
          </a:p>
          <a:p>
            <a:pPr algn="l">
              <a:lnSpc>
                <a:spcPts val="1100"/>
              </a:lnSpc>
              <a:spcAft>
                <a:spcPts val="200"/>
              </a:spcAft>
            </a:pPr>
            <a:r>
              <a:rPr sz="800" b="0">
                <a:latin typeface="Barlow"/>
              </a:rPr>
              <a:t>• Tableau</a:t>
            </a:r>
          </a:p>
          <a:p>
            <a:pPr algn="l">
              <a:lnSpc>
                <a:spcPts val="1100"/>
              </a:lnSpc>
              <a:spcAft>
                <a:spcPts val="200"/>
              </a:spcAft>
            </a:pPr>
            <a:r>
              <a:rPr sz="800" b="0">
                <a:latin typeface="Barlow"/>
              </a:rPr>
              <a:t>• Python</a:t>
            </a:r>
          </a:p>
          <a:p>
            <a:pPr algn="l">
              <a:lnSpc>
                <a:spcPts val="1100"/>
              </a:lnSpc>
              <a:spcAft>
                <a:spcPts val="200"/>
              </a:spcAft>
            </a:pPr>
            <a:r>
              <a:rPr sz="800" b="0">
                <a:latin typeface="Barlow"/>
              </a:rPr>
              <a:t>• R</a:t>
            </a:r>
          </a:p>
          <a:p>
            <a:pPr algn="l">
              <a:lnSpc>
                <a:spcPts val="1100"/>
              </a:lnSpc>
              <a:spcAft>
                <a:spcPts val="200"/>
              </a:spcAft>
            </a:pPr>
            <a:r>
              <a:rPr sz="800" b="0">
                <a:latin typeface="Barlow"/>
              </a:rPr>
              <a:t>• Go</a:t>
            </a:r>
          </a:p>
          <a:p>
            <a:pPr algn="l">
              <a:lnSpc>
                <a:spcPts val="1100"/>
              </a:lnSpc>
              <a:spcAft>
                <a:spcPts val="200"/>
              </a:spcAft>
            </a:pPr>
            <a:r>
              <a:rPr sz="800" b="0">
                <a:latin typeface="Barlow"/>
              </a:rPr>
              <a:t>• Google Cloud Platform</a:t>
            </a:r>
          </a:p>
          <a:p>
            <a:pPr algn="l">
              <a:lnSpc>
                <a:spcPts val="1100"/>
              </a:lnSpc>
              <a:spcAft>
                <a:spcPts val="200"/>
              </a:spcAft>
            </a:pPr>
            <a:r>
              <a:rPr sz="800" b="0">
                <a:latin typeface="Barlow"/>
              </a:rPr>
              <a:t>• Generative AI</a:t>
            </a:r>
          </a:p>
          <a:p>
            <a:pPr algn="l">
              <a:lnSpc>
                <a:spcPts val="1100"/>
              </a:lnSpc>
              <a:spcAft>
                <a:spcPts val="200"/>
              </a:spcAft>
            </a:pPr>
            <a:r>
              <a:rPr sz="800" b="0">
                <a:latin typeface="Barlow"/>
              </a:rPr>
              <a:t>• CECL</a:t>
            </a:r>
          </a:p>
          <a:p>
            <a:pPr algn="l">
              <a:lnSpc>
                <a:spcPts val="1100"/>
              </a:lnSpc>
              <a:spcAft>
                <a:spcPts val="200"/>
              </a:spcAft>
            </a:pPr>
            <a:r>
              <a:rPr sz="800" b="0">
                <a:latin typeface="Barlow"/>
              </a:rPr>
              <a:t>• Credit-Risk</a:t>
            </a:r>
          </a:p>
          <a:p>
            <a:pPr algn="l">
              <a:lnSpc>
                <a:spcPts val="1100"/>
              </a:lnSpc>
              <a:spcAft>
                <a:spcPts val="200"/>
              </a:spcAft>
            </a:pPr>
            <a:r>
              <a:rPr sz="800" b="0">
                <a:latin typeface="Barlow"/>
              </a:rPr>
              <a:t>• SAS</a:t>
            </a:r>
          </a:p>
          <a:p>
            <a:pPr algn="l">
              <a:lnSpc>
                <a:spcPts val="1100"/>
              </a:lnSpc>
              <a:spcAft>
                <a:spcPts val="200"/>
              </a:spcAft>
            </a:pPr>
            <a:r>
              <a:rPr sz="800" b="0">
                <a:latin typeface="Barlow"/>
              </a:rPr>
              <a:t>• Prompt Engineering</a:t>
            </a:r>
          </a:p>
          <a:p>
            <a:pPr algn="l">
              <a:lnSpc>
                <a:spcPts val="1100"/>
              </a:lnSpc>
              <a:spcAft>
                <a:spcPts val="200"/>
              </a:spcAft>
            </a:pPr>
            <a:r>
              <a:rPr sz="800" b="0">
                <a:latin typeface="Barlow"/>
              </a:rPr>
              <a:t>• Linear Regression</a:t>
            </a:r>
          </a:p>
          <a:p>
            <a:pPr algn="l">
              <a:lnSpc>
                <a:spcPts val="1100"/>
              </a:lnSpc>
              <a:spcAft>
                <a:spcPts val="200"/>
              </a:spcAft>
            </a:pPr>
            <a:r>
              <a:rPr sz="800" b="0">
                <a:latin typeface="Barlow"/>
              </a:rPr>
              <a:t>• Stress Testing</a:t>
            </a:r>
          </a:p>
          <a:p>
            <a:pPr algn="l">
              <a:lnSpc>
                <a:spcPts val="1100"/>
              </a:lnSpc>
              <a:spcAft>
                <a:spcPts val="200"/>
              </a:spcAft>
            </a:pPr>
            <a:r>
              <a:rPr sz="800" b="0">
                <a:latin typeface="Barlow"/>
              </a:rPr>
              <a:t>• CCAR</a:t>
            </a:r>
          </a:p>
          <a:p>
            <a:pPr algn="l">
              <a:lnSpc>
                <a:spcPts val="1100"/>
              </a:lnSpc>
              <a:spcAft>
                <a:spcPts val="200"/>
              </a:spcAft>
            </a:pPr>
            <a:r>
              <a:rPr sz="800" b="0">
                <a:latin typeface="Barlow"/>
              </a:rPr>
              <a:t>• ICAAP</a:t>
            </a:r>
          </a:p>
          <a:p>
            <a:pPr algn="l">
              <a:lnSpc>
                <a:spcPts val="1100"/>
              </a:lnSpc>
              <a:spcAft>
                <a:spcPts val="200"/>
              </a:spcAft>
            </a:pPr>
            <a:r>
              <a:rPr sz="800" b="0">
                <a:latin typeface="Barlow"/>
              </a:rPr>
              <a:t>• IRB</a:t>
            </a:r>
          </a:p>
          <a:p>
            <a:pPr algn="l">
              <a:lnSpc>
                <a:spcPts val="1100"/>
              </a:lnSpc>
              <a:spcAft>
                <a:spcPts val="200"/>
              </a:spcAft>
            </a:pPr>
            <a:r>
              <a:rPr sz="800" b="0">
                <a:latin typeface="Barlow"/>
              </a:rPr>
              <a:t>• Data Visualization</a:t>
            </a:r>
          </a:p>
          <a:p>
            <a:pPr algn="l">
              <a:lnSpc>
                <a:spcPts val="1100"/>
              </a:lnSpc>
              <a:spcAft>
                <a:spcPts val="200"/>
              </a:spcAft>
            </a:pPr>
            <a:r>
              <a:rPr sz="800" b="0">
                <a:latin typeface="Barlow"/>
              </a:rPr>
              <a:t>• IFRS-9</a:t>
            </a:r>
          </a:p>
          <a:p>
            <a:pPr algn="l">
              <a:lnSpc>
                <a:spcPts val="1100"/>
              </a:lnSpc>
              <a:spcAft>
                <a:spcPts val="200"/>
              </a:spcAft>
            </a:pPr>
            <a:r>
              <a:rPr sz="800" b="0">
                <a:latin typeface="Barlow"/>
              </a:rPr>
              <a:t>• Basel-IV</a:t>
            </a:r>
          </a:p>
          <a:p>
            <a:pPr>
              <a:spcBef>
                <a:spcPts val="1200"/>
              </a:spcBef>
              <a:spcAft>
                <a:spcPts val="400"/>
              </a:spcAft>
            </a:pPr>
            <a:r>
              <a:rPr sz="900" b="1">
                <a:solidFill>
                  <a:srgbClr val="00ACC4"/>
                </a:solidFill>
                <a:latin typeface="Barlow"/>
              </a:rPr>
              <a:t>INDUSTRY EXPERTISE</a:t>
            </a:r>
          </a:p>
          <a:p>
            <a:pPr algn="l">
              <a:lnSpc>
                <a:spcPts val="1100"/>
              </a:lnSpc>
              <a:spcAft>
                <a:spcPts val="200"/>
              </a:spcAft>
            </a:pPr>
            <a:r>
              <a:rPr sz="800" b="0">
                <a:latin typeface="Barlow"/>
              </a:rPr>
              <a:t>• Credit Risk</a:t>
            </a:r>
          </a:p>
          <a:p>
            <a:pPr algn="l">
              <a:lnSpc>
                <a:spcPts val="1100"/>
              </a:lnSpc>
              <a:spcAft>
                <a:spcPts val="200"/>
              </a:spcAft>
            </a:pPr>
            <a:r>
              <a:rPr sz="800" b="0">
                <a:latin typeface="Barlow"/>
              </a:rPr>
              <a:t>• Regulatory Capital</a:t>
            </a:r>
          </a:p>
          <a:p>
            <a:pPr algn="l">
              <a:lnSpc>
                <a:spcPts val="1100"/>
              </a:lnSpc>
              <a:spcAft>
                <a:spcPts val="200"/>
              </a:spcAft>
            </a:pPr>
            <a:r>
              <a:rPr sz="800" b="0">
                <a:latin typeface="Barlow"/>
              </a:rPr>
              <a:t>• Banking</a:t>
            </a:r>
          </a:p>
          <a:p>
            <a:pPr algn="l">
              <a:lnSpc>
                <a:spcPts val="1100"/>
              </a:lnSpc>
              <a:spcAft>
                <a:spcPts val="200"/>
              </a:spcAft>
            </a:pPr>
            <a:r>
              <a:rPr sz="800" b="0">
                <a:latin typeface="Barlow"/>
              </a:rPr>
              <a:t>• Financial Services</a:t>
            </a:r>
          </a:p>
          <a:p>
            <a:pPr>
              <a:spcBef>
                <a:spcPts val="1200"/>
              </a:spcBef>
              <a:spcAft>
                <a:spcPts val="400"/>
              </a:spcAft>
            </a:pPr>
            <a:r>
              <a:rPr sz="900" b="1">
                <a:solidFill>
                  <a:srgbClr val="00ACC4"/>
                </a:solidFill>
                <a:latin typeface="Barlow"/>
              </a:rPr>
              <a:t>EDUCATION</a:t>
            </a:r>
          </a:p>
          <a:p>
            <a:pPr algn="l">
              <a:lnSpc>
                <a:spcPts val="1100"/>
              </a:lnSpc>
              <a:spcAft>
                <a:spcPts val="200"/>
              </a:spcAft>
            </a:pPr>
            <a:r>
              <a:rPr sz="800" b="0">
                <a:latin typeface="Barlow"/>
              </a:rPr>
              <a:t>• Executive PG Diploma in Data Science</a:t>
            </a:r>
          </a:p>
          <a:p>
            <a:pPr algn="l">
              <a:lnSpc>
                <a:spcPts val="1100"/>
              </a:lnSpc>
              <a:spcAft>
                <a:spcPts val="200"/>
              </a:spcAft>
            </a:pPr>
            <a:r>
              <a:rPr sz="800" b="0">
                <a:latin typeface="Barlow"/>
              </a:rPr>
              <a:t>• PGDM Finance &amp; Marketing</a:t>
            </a:r>
          </a:p>
          <a:p>
            <a:pPr algn="l">
              <a:lnSpc>
                <a:spcPts val="1100"/>
              </a:lnSpc>
              <a:spcAft>
                <a:spcPts val="200"/>
              </a:spcAft>
            </a:pPr>
            <a:r>
              <a:rPr sz="800" b="0">
                <a:latin typeface="Barlow"/>
              </a:rPr>
              <a:t>• BE</a:t>
            </a:r>
          </a:p>
        </p:txBody>
      </p:sp>
      <p:sp>
        <p:nvSpPr>
          <p:cNvPr id="4" name="Text Placeholder 144">
            <a:extLst>
              <a:ext uri="{FF2B5EF4-FFF2-40B4-BE49-F238E27FC236}">
                <a16:creationId xmlns:a16="http://schemas.microsoft.com/office/drawing/2014/main" id="{8D0EE6E6-4543-7AB0-F39E-8600E0291205}"/>
              </a:ext>
            </a:extLst>
          </p:cNvPr>
          <p:cNvSpPr txBox="1"/>
          <p:nvPr/>
        </p:nvSpPr>
        <p:spPr>
          <a:xfrm>
            <a:off x="4940300" y="182880"/>
            <a:ext cx="6854825" cy="5694363"/>
          </a:xfrm>
          <a:prstGeom prst="rect">
            <a:avLst/>
          </a:prstGeom>
          <a:noFill/>
          <a:ln cap="flat">
            <a:noFill/>
          </a:ln>
        </p:spPr>
        <p:txBody>
          <a:bodyPr lIns="0" tIns="0" rIns="0" bIns="0" wrap="square"/>
          <a:lstStyle/>
          <a:p>
            <a:pPr marL="0" marR="0" lvl="0" indent="0" algn="l" defTabSz="914354" rtl="0" eaLnBrk="1" fontAlgn="auto" latinLnBrk="0" hangingPunct="1">
              <a:lnSpc>
                <a:spcPct val="100000"/>
              </a:lnSpc>
              <a:spcBef>
                <a:spcPts val="150"/>
              </a:spcBef>
              <a:spcAft>
                <a:spcPts val="150"/>
              </a:spcAft>
              <a:buClrTx/>
              <a:buSzTx/>
              <a:buFontTx/>
              <a:buNone/>
              <a:tabLst/>
              <a:defRPr sz="1800" b="0" i="0" u="none" strike="noStrike" kern="0" cap="none" spc="0" baseline="0">
                <a:solidFill>
                  <a:srgbClr val="000000"/>
                </a:solidFill>
                <a:uFillTx/>
              </a:defRPr>
            </a:pPr>
            <a:r>
              <a:rPr kumimoji="0" lang="en-GB" sz="900" b="1" i="0" u="none" strike="noStrike" kern="0" cap="none" spc="0" normalizeH="0" baseline="0" noProof="0" dirty="0">
                <a:ln>
                  <a:noFill/>
                </a:ln>
                <a:solidFill>
                  <a:srgbClr val="00ACC4"/>
                </a:solidFill>
                <a:effectLst/>
                <a:uLnTx/>
                <a:uFillTx/>
                <a:latin typeface="Barlow" panose="00000500000000000000" pitchFamily="2" charset="0"/>
                <a:cs typeface="Arial" pitchFamily="34"/>
              </a:rPr>
              <a:t>PROFESSIONAL EXPERIENCE</a:t>
            </a:r>
          </a:p>
          <a:p>
            <a:pPr lvl="0">
              <a:lnSpc>
                <a:spcPts val="1000"/>
              </a:lnSpc>
              <a:spcBef>
                <a:spcPts val="100"/>
              </a:spcBef>
              <a:spcAft>
                <a:spcPts val="200"/>
              </a:spcAft>
              <a:defRPr/>
            </a:pPr>
            <a:r>
              <a:rPr sz="800" b="1">
                <a:latin typeface="Barlow"/>
              </a:rPr>
              <a:t>Gaurav Tripathi has 9 years of experience as a Senior Business Analyst specializing in Credit Risk and Regulatory Capital within the Banking and Financial Services industry.</a:t>
            </a:r>
            <a:r>
              <a:rPr sz="800" b="0">
                <a:latin typeface="Barlow"/>
              </a:rPr>
              <a:t> He leverages advanced analytical tools such as Python, SQL, Excel, Tableau, and R to build and validate risk models, including CECL, IFRS‑9, and Basel‑IV frameworks. His expertise spans stress testing (CCAR, ICAAP), IRB‑to‑IFRS‑9 model linkages, and climate risk modelling, ensuring robust regulatory compliance across multiple jurisdictions. Gaurav has led collaborations with regulators (PRA, ECB, Fed/OCC, OSFI), business stakeholders, and technology teams to deliver automated reporting solutions and data visualizations that drive informed decision‑making. He consistently applies rigorous testing, data reconciliation, and process‑improvement methodologies to mitigate risk, enhance platform stability, and support strategic financial objectives.</a:t>
            </a:r>
            <a:endParaRPr kumimoji="0" lang="en-US" sz="900" i="0" u="none" strike="noStrike" kern="1200" cap="none" spc="0" normalizeH="0" baseline="0" noProof="0" dirty="0">
              <a:ln>
                <a:noFill/>
              </a:ln>
              <a:solidFill>
                <a:srgbClr val="00ACC4"/>
              </a:solidFill>
              <a:effectLst/>
              <a:uLnTx/>
              <a:uFillTx/>
              <a:latin typeface="Barlow" panose="00000500000000000000" pitchFamily="2" charset="0"/>
              <a:cs typeface="Arial" pitchFamily="34"/>
            </a:endParaRPr>
          </a:p>
          <a:p>
            <a:pPr lvl="0">
              <a:spcBef>
                <a:spcPts val="1200"/>
              </a:spcBef>
              <a:spcAft>
                <a:spcPts val="400"/>
              </a:spcAft>
              <a:defRPr/>
            </a:pPr>
            <a:r>
              <a:rPr kumimoji="0" lang="en-GB" sz="900" b="1" i="0" u="none" strike="noStrike" kern="1200" cap="none" spc="0" normalizeH="0" baseline="0" noProof="0" dirty="0">
                <a:ln>
                  <a:noFill/>
                </a:ln>
                <a:solidFill>
                  <a:srgbClr val="00ACC4"/>
                </a:solidFill>
                <a:effectLst/>
                <a:uLnTx/>
                <a:uFillTx/>
                <a:latin typeface="Barlow" panose="00000500000000000000" pitchFamily="2" charset="0"/>
                <a:cs typeface="Arial" pitchFamily="34"/>
              </a:rPr>
              <a:t>MAJOR PROJECTS</a:t>
            </a:r>
          </a:p>
          <a:p>
            <a:pPr>
              <a:lnSpc>
                <a:spcPts val="1000"/>
              </a:lnSpc>
              <a:spcBef>
                <a:spcPts val="300"/>
              </a:spcBef>
              <a:spcAft>
                <a:spcPts val="50"/>
              </a:spcAft>
            </a:pPr>
            <a:r>
              <a:rPr b="1" sz="800">
                <a:latin typeface="Barlow"/>
              </a:rPr>
              <a:t>Banking – Credit Risk Model Development and Regulatory Reporting – Senior Business Analyst – Credit Risk</a:t>
            </a:r>
          </a:p>
          <a:p>
            <a:pPr>
              <a:lnSpc>
                <a:spcPts val="950"/>
              </a:lnSpc>
              <a:spcBef>
                <a:spcPts val="100"/>
              </a:spcBef>
              <a:spcAft>
                <a:spcPts val="100"/>
              </a:spcAft>
            </a:pPr>
            <a:r>
              <a:rPr sz="800" b="0">
                <a:latin typeface="Barlow"/>
              </a:rPr>
              <a:t>• Developed and validated Linear Regression models aligned with CECL guidelines, performing extensive backtesting, sensitivity analysis, and stress scenario forecasting to ensure model robustness.</a:t>
            </a:r>
          </a:p>
          <a:p>
            <a:pPr>
              <a:lnSpc>
                <a:spcPts val="950"/>
              </a:lnSpc>
              <a:spcBef>
                <a:spcPts val="100"/>
              </a:spcBef>
              <a:spcAft>
                <a:spcPts val="100"/>
              </a:spcAft>
            </a:pPr>
            <a:r>
              <a:rPr sz="800" b="0">
                <a:latin typeface="Barlow"/>
              </a:rPr>
              <a:t>• Analyzed corporate lending, project finance, commercial real estate, and private equity exposures, translating business requirements into technical specifications for credit risk assessment.</a:t>
            </a:r>
          </a:p>
          <a:p>
            <a:pPr>
              <a:lnSpc>
                <a:spcPts val="950"/>
              </a:lnSpc>
              <a:spcBef>
                <a:spcPts val="100"/>
              </a:spcBef>
              <a:spcAft>
                <a:spcPts val="100"/>
              </a:spcAft>
            </a:pPr>
            <a:r>
              <a:rPr sz="800" b="0">
                <a:latin typeface="Barlow"/>
              </a:rPr>
              <a:t>• Designed and implemented stress testing frameworks such as CCAR and ICAAP, establishing IRB‑to‑IFRS 9 model linkages to support regulatory capital calculations.</a:t>
            </a:r>
          </a:p>
          <a:p>
            <a:pPr>
              <a:lnSpc>
                <a:spcPts val="1000"/>
              </a:lnSpc>
              <a:spcBef>
                <a:spcPts val="300"/>
              </a:spcBef>
              <a:spcAft>
                <a:spcPts val="50"/>
              </a:spcAft>
            </a:pPr>
            <a:r>
              <a:rPr b="1" sz="800">
                <a:latin typeface="Barlow"/>
              </a:rPr>
              <a:t>Banking – Wholesale IRB Capital Modeling and Climate Risk Integration – Business Analyst IV</a:t>
            </a:r>
          </a:p>
          <a:p>
            <a:pPr>
              <a:lnSpc>
                <a:spcPts val="950"/>
              </a:lnSpc>
              <a:spcBef>
                <a:spcPts val="100"/>
              </a:spcBef>
              <a:spcAft>
                <a:spcPts val="100"/>
              </a:spcAft>
            </a:pPr>
            <a:r>
              <a:rPr sz="800" b="0">
                <a:latin typeface="Barlow"/>
              </a:rPr>
              <a:t>• Modeled and validated Wholesale IRB capital models, ensuring adherence to regulatory standards and accurate risk weight calculations.</a:t>
            </a:r>
          </a:p>
          <a:p>
            <a:pPr>
              <a:lnSpc>
                <a:spcPts val="950"/>
              </a:lnSpc>
              <a:spcBef>
                <a:spcPts val="100"/>
              </a:spcBef>
              <a:spcAft>
                <a:spcPts val="100"/>
              </a:spcAft>
            </a:pPr>
            <a:r>
              <a:rPr sz="800" b="0">
                <a:latin typeface="Barlow"/>
              </a:rPr>
              <a:t>• Executed IFRS 9 implementation tasks, translating accounting requirements into system specifications and supporting data migration activities.</a:t>
            </a:r>
          </a:p>
          <a:p>
            <a:pPr>
              <a:lnSpc>
                <a:spcPts val="950"/>
              </a:lnSpc>
              <a:spcBef>
                <a:spcPts val="100"/>
              </a:spcBef>
              <a:spcAft>
                <a:spcPts val="100"/>
              </a:spcAft>
            </a:pPr>
            <a:r>
              <a:rPr sz="800" b="0">
                <a:latin typeface="Barlow"/>
              </a:rPr>
              <a:t>• Conducted climate risk modelling analyses, integrating environmental stress factors into credit risk assessments for a major banking client.</a:t>
            </a:r>
          </a:p>
          <a:p>
            <a:pPr>
              <a:lnSpc>
                <a:spcPts val="1000"/>
              </a:lnSpc>
              <a:spcBef>
                <a:spcPts val="300"/>
              </a:spcBef>
              <a:spcAft>
                <a:spcPts val="50"/>
              </a:spcAft>
            </a:pPr>
            <a:r>
              <a:rPr b="1" sz="800">
                <a:latin typeface="Barlow"/>
              </a:rPr>
              <a:t>FinTech – Credit Risk Analytics and Dashboard Automation – Credit Risk Analyst</a:t>
            </a:r>
          </a:p>
          <a:p>
            <a:pPr>
              <a:lnSpc>
                <a:spcPts val="950"/>
              </a:lnSpc>
              <a:spcBef>
                <a:spcPts val="100"/>
              </a:spcBef>
              <a:spcAft>
                <a:spcPts val="100"/>
              </a:spcAft>
            </a:pPr>
            <a:r>
              <a:rPr sz="800" b="0">
                <a:latin typeface="Barlow"/>
              </a:rPr>
              <a:t>• Developed credit risk models in Python, performing data wrangling and statistical analysis to quantify exposure probabilities.</a:t>
            </a:r>
          </a:p>
          <a:p>
            <a:pPr>
              <a:lnSpc>
                <a:spcPts val="950"/>
              </a:lnSpc>
              <a:spcBef>
                <a:spcPts val="100"/>
              </a:spcBef>
              <a:spcAft>
                <a:spcPts val="100"/>
              </a:spcAft>
            </a:pPr>
            <a:r>
              <a:rPr sz="800" b="0">
                <a:latin typeface="Barlow"/>
              </a:rPr>
              <a:t>• Identified potential financial risks through bucket analysis and trend examination, enabling proactive mitigation of delinquency patterns.</a:t>
            </a:r>
          </a:p>
          <a:p>
            <a:pPr>
              <a:lnSpc>
                <a:spcPts val="950"/>
              </a:lnSpc>
              <a:spcBef>
                <a:spcPts val="100"/>
              </a:spcBef>
              <a:spcAft>
                <a:spcPts val="100"/>
              </a:spcAft>
            </a:pPr>
            <a:r>
              <a:rPr sz="800" b="0">
                <a:latin typeface="Barlow"/>
              </a:rPr>
              <a:t>• Produced statistical visualizations for Days Past Due (DPD) metrics, delivering actionable insights to senior management for portfolio monitoring.</a:t>
            </a:r>
          </a:p>
          <a:p>
            <a:pPr>
              <a:lnSpc>
                <a:spcPts val="1000"/>
              </a:lnSpc>
              <a:spcBef>
                <a:spcPts val="300"/>
              </a:spcBef>
              <a:spcAft>
                <a:spcPts val="50"/>
              </a:spcAft>
            </a:pPr>
            <a:r>
              <a:rPr b="1" sz="800">
                <a:latin typeface="Barlow"/>
              </a:rPr>
              <a:t>Software Services – Enterprise Application Development – Software Engineer</a:t>
            </a:r>
          </a:p>
          <a:p>
            <a:pPr>
              <a:lnSpc>
                <a:spcPts val="950"/>
              </a:lnSpc>
              <a:spcBef>
                <a:spcPts val="100"/>
              </a:spcBef>
              <a:spcAft>
                <a:spcPts val="100"/>
              </a:spcAft>
            </a:pPr>
            <a:r>
              <a:rPr sz="800" b="0">
                <a:latin typeface="Barlow"/>
              </a:rPr>
              <a:t>• Developed multi‑screen application code implementing search criteria and role‑based authentication, enhancing user experience and security.</a:t>
            </a:r>
          </a:p>
          <a:p>
            <a:pPr>
              <a:lnSpc>
                <a:spcPts val="950"/>
              </a:lnSpc>
              <a:spcBef>
                <a:spcPts val="100"/>
              </a:spcBef>
              <a:spcAft>
                <a:spcPts val="100"/>
              </a:spcAft>
            </a:pPr>
            <a:r>
              <a:rPr sz="800" b="0">
                <a:latin typeface="Barlow"/>
              </a:rPr>
              <a:t>• Gathered and analyzed client requirements, translating business needs into detailed functional specifications and high‑level technical design documents.</a:t>
            </a:r>
          </a:p>
          <a:p>
            <a:pPr>
              <a:lnSpc>
                <a:spcPts val="950"/>
              </a:lnSpc>
              <a:spcBef>
                <a:spcPts val="100"/>
              </a:spcBef>
              <a:spcAft>
                <a:spcPts val="100"/>
              </a:spcAft>
            </a:pPr>
            <a:r>
              <a:rPr sz="800" b="0">
                <a:latin typeface="Barlow"/>
              </a:rPr>
              <a:t>• Implemented comprehensive client‑side and server‑side validation mechanisms, reducing data entry errors and improving overall system reliability.</a:t>
            </a:r>
          </a:p>
        </p:txBody>
      </p:sp>
    </p:spTree>
    <p:extLst>
      <p:ext uri="{BB962C8B-B14F-4D97-AF65-F5344CB8AC3E}">
        <p14:creationId xmlns:p14="http://schemas.microsoft.com/office/powerpoint/2010/main" val="1828036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d90964-91d3-4c01-ab00-563f95f00a38}" enabled="0" method="" siteId="{a9d90964-91d3-4c01-ab00-563f95f00a38}" removed="1"/>
  <clbl:label id="{da623df2-7a25-4a8f-b59b-3a3459c1375f}" enabled="1" method="Standard" siteId="{16532572-d567-4d67-8727-f12f7bb6aed3}" removed="0"/>
</clbl:labelList>
</file>

<file path=docProps/app.xml><?xml version="1.0" encoding="utf-8"?>
<Properties xmlns="http://schemas.openxmlformats.org/officeDocument/2006/extended-properties" xmlns:vt="http://schemas.openxmlformats.org/officeDocument/2006/docPropsVTypes">
  <TotalTime>0</TotalTime>
  <Words>702</Words>
  <Application>Microsoft Office PowerPoint</Application>
  <PresentationFormat>Widescreen</PresentationFormat>
  <Paragraphs>24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Barlow</vt:lpstr>
      <vt:lpstr>Barlow Condensed Medium</vt:lpstr>
      <vt:lpstr>Calibri</vt:lpstr>
      <vt:lpstr>Office Theme</vt:lpstr>
      <vt:lpstr>FirstName  LastName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2026-07-01T07:48:12Z</dcterms:created>
  <dcterms:modified xsi:type="dcterms:W3CDTF">2026-08-09T04:36:36Z</dcterms:modified>
</cp:coreProperties>
</file>