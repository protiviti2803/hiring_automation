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3"/>
  </p:notesMasterIdLst>
  <p:sldIdLst>
    <p:sldId id="2147481644"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784E53-E109-4512-BEFF-25386603050E}" v="11" dt="2026-07-31T04:48:38.6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0" d="100"/>
          <a:sy n="90" d="100"/>
        </p:scale>
        <p:origin x="48"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8A64A4-8F04-4D21-AE85-D21C24FFE365}" type="datetimeFigureOut">
              <a:rPr lang="en-GB" smtClean="0"/>
              <a:t>04/08/2026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4DEDC6-57B9-4841-8E16-92778E2EE4C3}" type="slidenum">
              <a:rPr lang="en-GB" smtClean="0"/>
              <a:t>‹#›</a:t>
            </a:fld>
            <a:endParaRPr lang="en-GB"/>
          </a:p>
        </p:txBody>
      </p:sp>
    </p:spTree>
    <p:extLst>
      <p:ext uri="{BB962C8B-B14F-4D97-AF65-F5344CB8AC3E}">
        <p14:creationId xmlns:p14="http://schemas.microsoft.com/office/powerpoint/2010/main" val="25323145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D4BC8-1281-C19D-235A-60E677C5EEF8}"/>
            </a:ext>
          </a:extLst>
        </p:cNvPr>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D470BD2E-7066-C909-CB27-AE3F6604595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GB"/>
          </a:p>
        </p:txBody>
      </p:sp>
      <p:sp>
        <p:nvSpPr>
          <p:cNvPr id="8195" name="Notes Placeholder 2">
            <a:extLst>
              <a:ext uri="{FF2B5EF4-FFF2-40B4-BE49-F238E27FC236}">
                <a16:creationId xmlns:a16="http://schemas.microsoft.com/office/drawing/2014/main" id="{AD3C7FCB-DE82-E801-3860-D9A4BA9A724B}"/>
              </a:ext>
            </a:extLst>
          </p:cNvPr>
          <p:cNvSpPr>
            <a:spLocks noGrp="1" noChangeArrowheads="1"/>
          </p:cNvSpPr>
          <p:nvPr>
            <p:ph type="body"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4" name="Slide Number Placeholder 3">
            <a:extLst>
              <a:ext uri="{FF2B5EF4-FFF2-40B4-BE49-F238E27FC236}">
                <a16:creationId xmlns:a16="http://schemas.microsoft.com/office/drawing/2014/main" id="{19547B8F-F91E-BCD3-AA0F-E9E37F41737B}"/>
              </a:ext>
            </a:extLst>
          </p:cNvPr>
          <p:cNvSpPr txBox="1"/>
          <p:nvPr/>
        </p:nvSpPr>
        <p:spPr>
          <a:xfrm>
            <a:off x="3884613" y="8685213"/>
            <a:ext cx="2971800" cy="458787"/>
          </a:xfrm>
          <a:prstGeom prst="rect">
            <a:avLst/>
          </a:prstGeom>
          <a:noFill/>
          <a:ln cap="flat">
            <a:noFill/>
          </a:ln>
        </p:spPr>
        <p:txBody>
          <a:bodyPr anchor="b"/>
          <a:lstStyle/>
          <a:p>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fld id="{BECC7B1C-B014-45AA-9113-D5F76C866331}" type="slidenum">
              <a:rPr kumimoji="0" sz="1800" b="0" i="0" u="none" strike="noStrike" kern="0" cap="none" spc="0" normalizeH="0" baseline="0" noProof="0">
                <a:ln>
                  <a:noFill/>
                </a:ln>
                <a:solidFill>
                  <a:srgbClr val="000000"/>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t>1</a:t>
            </a:fld>
            <a:endParaRPr kumimoji="0" lang="en-GB" sz="1200" b="0" i="0" u="none" strike="noStrike" kern="0" cap="none" spc="0" normalizeH="0" baseline="0" noProof="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343248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A34A1-1FFD-08A9-06D7-AF30594B83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D1230CD-156A-5322-7C6F-F1786ABFBB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5815334-3D37-E4A0-9F87-3F9943024EAD}"/>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241E5B0E-6DF3-4C94-80B5-B344256F84D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115EA3B-0FB6-A10E-E397-57E67C95D7E9}"/>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3854095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B0CD9-A699-2717-2440-DBE55388D81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77942CF-765C-3B93-0198-85FD3B9F3B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9B2B66-9BB1-31B0-7258-2B2CD677E0B2}"/>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5A1E8919-CC3D-40EB-0712-CA2C4E68E65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CE4DF65-BF11-6907-B469-E87B23EEAEC1}"/>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546695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774E6-9A26-2479-DDBE-9940493244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8E8FD20-3A4C-C5E4-49CF-5175CE1ACE6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DE97AE-DEC5-B29C-1826-7342092146F2}"/>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4961412C-37EB-0637-DC38-DC5DC5882BC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3F9ABED-CB0E-8552-F7F2-9A2B12AA323E}"/>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4227790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EA923-E110-B6EA-5EC9-98103E77465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D3867EC-A55A-1CCF-E6A3-61E172B26EA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5972F9E-5C5D-4FB1-56A8-AF44B1035A4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FB4F12B-DCBB-5FF2-AFEC-D4FA9E136863}"/>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6" name="Footer Placeholder 5">
            <a:extLst>
              <a:ext uri="{FF2B5EF4-FFF2-40B4-BE49-F238E27FC236}">
                <a16:creationId xmlns:a16="http://schemas.microsoft.com/office/drawing/2014/main" id="{17C4DA59-D6BC-37DF-42A0-1914F600AF1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586C43A-2724-E4EB-B374-00BFE2BECC45}"/>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425553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C665B-0C45-E569-5B45-1663469A027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2DBF56B-0D8B-BDC9-7C34-509FB1B766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6FD2B1-51F1-CACE-7E5A-397C2D14DA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AF1F5EF-544A-F5E2-2189-FF39D610DC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DC2E1F-8241-F6E6-6EAF-1B5A4A5B5C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9DC2B24-FABF-4D40-4480-0C4006FC0B45}"/>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8" name="Footer Placeholder 7">
            <a:extLst>
              <a:ext uri="{FF2B5EF4-FFF2-40B4-BE49-F238E27FC236}">
                <a16:creationId xmlns:a16="http://schemas.microsoft.com/office/drawing/2014/main" id="{430A03A6-8A28-E7DE-0CAB-307860EE96E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1E9491C-6CD8-AC62-5824-73DF6ED51C4F}"/>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107153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4144D-69AA-7E53-2516-A3C0E26AD9D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01CE76F-E652-39CC-A926-61ABDE146F91}"/>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4" name="Footer Placeholder 3">
            <a:extLst>
              <a:ext uri="{FF2B5EF4-FFF2-40B4-BE49-F238E27FC236}">
                <a16:creationId xmlns:a16="http://schemas.microsoft.com/office/drawing/2014/main" id="{E6332CF3-06BC-565D-D3F0-22FDEB3BEC4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915E833-C050-F55F-BC6B-EC80489E02AA}"/>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600011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DE0617-1D22-C81C-4B7A-5008407770E2}"/>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3" name="Footer Placeholder 2">
            <a:extLst>
              <a:ext uri="{FF2B5EF4-FFF2-40B4-BE49-F238E27FC236}">
                <a16:creationId xmlns:a16="http://schemas.microsoft.com/office/drawing/2014/main" id="{899C5727-26BC-BC90-635E-CC4B22DFAB22}"/>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EECCC1E-4342-A6B5-CD05-A51D2917B055}"/>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3994419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D91EA-5818-3787-0FA2-E80B7E4581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F8818D9-626D-7098-2499-B3F4AC5EE6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D75A300-833E-4681-E759-ED24A4C552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0E3D44-DC37-B14D-CEFB-13EDEBF11D11}"/>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6" name="Footer Placeholder 5">
            <a:extLst>
              <a:ext uri="{FF2B5EF4-FFF2-40B4-BE49-F238E27FC236}">
                <a16:creationId xmlns:a16="http://schemas.microsoft.com/office/drawing/2014/main" id="{7227B9F2-FDDD-D257-7A44-C93F869C8C3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2F5528D-F3C5-B55A-53DA-6A78F1656BCD}"/>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2264367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66AFF-E171-AC1E-127E-3D9A91B43D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43FFACB-40AB-3A85-15F6-340B24D8B4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E98DB6C-9BCC-DF84-4CF8-628B18BDA9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FD1EC9-9C0F-BA50-E571-E14F0171D2A5}"/>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6" name="Footer Placeholder 5">
            <a:extLst>
              <a:ext uri="{FF2B5EF4-FFF2-40B4-BE49-F238E27FC236}">
                <a16:creationId xmlns:a16="http://schemas.microsoft.com/office/drawing/2014/main" id="{CD7601D6-CD86-BBDF-C093-91865EEE837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FB6F24F-996D-EFC3-54BE-881CFEFE8782}"/>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650815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2971C-AA66-56E3-4CB5-BC0D2D77A1E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E785955-CB23-0E7C-6D92-908A34CB632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5AC84CE-69E1-2DC6-732D-ED52AB3A2CFE}"/>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1D2F265E-B5E7-22FB-ADE8-6F17DD75268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07EC371-A4B0-55E6-3F27-A60167CF6235}"/>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2495235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17F69E-D4D2-1140-BA86-C9AF6DCCAFA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B6E8BC8-C21D-E775-EA4C-1FAC1FE487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C53FACC-3AC4-95DA-DE9A-EC74E53EE064}"/>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70C4A84A-BFD8-CF9A-06CA-8242879D47F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64B0263-5572-CAB9-D489-6B13C5C4588E}"/>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39876792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Resume w/picture map">
    <p:spTree>
      <p:nvGrpSpPr>
        <p:cNvPr id="1" name=""/>
        <p:cNvGrpSpPr/>
        <p:nvPr/>
      </p:nvGrpSpPr>
      <p:grpSpPr>
        <a:xfrm>
          <a:off x="0" y="0"/>
          <a:ext cx="0" cy="0"/>
          <a:chOff x="0" y="0"/>
          <a:chExt cx="0" cy="0"/>
        </a:xfrm>
      </p:grpSpPr>
      <p:pic>
        <p:nvPicPr>
          <p:cNvPr id="2" name="Picture 13" descr="A blue rectangular object with black border&#10;&#10;Description automatically generated">
            <a:extLst>
              <a:ext uri="{FF2B5EF4-FFF2-40B4-BE49-F238E27FC236}">
                <a16:creationId xmlns:a16="http://schemas.microsoft.com/office/drawing/2014/main" id="{BA69870E-4E56-8C1E-6843-424EC437D7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 y="-9525"/>
            <a:ext cx="2681288" cy="689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8">
            <a:extLst>
              <a:ext uri="{FF2B5EF4-FFF2-40B4-BE49-F238E27FC236}">
                <a16:creationId xmlns:a16="http://schemas.microsoft.com/office/drawing/2014/main" id="{F19CF2BB-74C1-A092-3F63-58C3BC5AA0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1825" y="6413500"/>
            <a:ext cx="809625"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Placeholder 14"/>
          <p:cNvSpPr txBox="1">
            <a:spLocks noGrp="1"/>
          </p:cNvSpPr>
          <p:nvPr>
            <p:ph type="body" idx="4294967295"/>
          </p:nvPr>
        </p:nvSpPr>
        <p:spPr>
          <a:xfrm>
            <a:off x="590546" y="3231992"/>
            <a:ext cx="1990091" cy="446272"/>
          </a:xfrm>
        </p:spPr>
        <p:txBody>
          <a:bodyPr>
            <a:noAutofit/>
          </a:bodyPr>
          <a:lstStyle>
            <a:lvl1pPr marL="0" indent="0">
              <a:buNone/>
              <a:defRPr lang="en-GB" sz="1000">
                <a:solidFill>
                  <a:srgbClr val="FFFFFF"/>
                </a:solidFill>
                <a:latin typeface="Arial" pitchFamily="34"/>
                <a:cs typeface="Arial" pitchFamily="34"/>
              </a:defRPr>
            </a:lvl1pPr>
          </a:lstStyle>
          <a:p>
            <a:pPr lvl="0"/>
            <a:r>
              <a:rPr lang="en-GB"/>
              <a:t>Title,</a:t>
            </a:r>
            <a:br>
              <a:rPr lang="en-GB"/>
            </a:br>
            <a:r>
              <a:rPr lang="en-GB"/>
              <a:t>Solution/Industry</a:t>
            </a:r>
            <a:endParaRPr lang="en-US"/>
          </a:p>
        </p:txBody>
      </p:sp>
      <p:sp>
        <p:nvSpPr>
          <p:cNvPr id="5" name="Picture Placeholder 23"/>
          <p:cNvSpPr txBox="1">
            <a:spLocks noGrp="1"/>
          </p:cNvSpPr>
          <p:nvPr>
            <p:ph type="pic" idx="4294967295"/>
          </p:nvPr>
        </p:nvSpPr>
        <p:spPr>
          <a:xfrm>
            <a:off x="590546" y="580579"/>
            <a:ext cx="1485150" cy="1485150"/>
          </a:xfrm>
          <a:solidFill>
            <a:srgbClr val="BDCAD7"/>
          </a:solidFill>
        </p:spPr>
        <p:txBody>
          <a:bodyPr rtlCol="0" anchorCtr="1">
            <a:noAutofit/>
          </a:bodyPr>
          <a:lstStyle>
            <a:lvl1pPr marL="0" indent="0" algn="ctr">
              <a:buNone/>
              <a:defRPr sz="1200"/>
            </a:lvl1pPr>
          </a:lstStyle>
          <a:p>
            <a:pPr lvl="0"/>
            <a:r>
              <a:rPr lang="en-US" noProof="0"/>
              <a:t>Insert headshot</a:t>
            </a:r>
          </a:p>
        </p:txBody>
      </p:sp>
      <p:sp>
        <p:nvSpPr>
          <p:cNvPr id="7" name="Title 1"/>
          <p:cNvSpPr txBox="1">
            <a:spLocks noGrp="1"/>
          </p:cNvSpPr>
          <p:nvPr>
            <p:ph type="title"/>
          </p:nvPr>
        </p:nvSpPr>
        <p:spPr>
          <a:xfrm>
            <a:off x="590546" y="2192347"/>
            <a:ext cx="1990091" cy="990011"/>
          </a:xfrm>
        </p:spPr>
        <p:txBody>
          <a:bodyPr anchor="t">
            <a:normAutofit/>
          </a:bodyPr>
          <a:lstStyle>
            <a:lvl1pPr>
              <a:lnSpc>
                <a:spcPts val="3540"/>
              </a:lnSpc>
              <a:defRPr lang="en-GB">
                <a:solidFill>
                  <a:srgbClr val="FFFFFF"/>
                </a:solidFill>
                <a:latin typeface="Barlow Condensed Medium" pitchFamily="2"/>
              </a:defRPr>
            </a:lvl1pPr>
          </a:lstStyle>
          <a:p>
            <a:pPr lvl="0"/>
            <a:r>
              <a:rPr lang="en-GB"/>
              <a:t>Firstname</a:t>
            </a:r>
            <a:br>
              <a:rPr lang="en-GB"/>
            </a:br>
            <a:r>
              <a:rPr lang="en-GB"/>
              <a:t>Lastname</a:t>
            </a:r>
            <a:endParaRPr lang="en-US"/>
          </a:p>
        </p:txBody>
      </p:sp>
      <p:sp>
        <p:nvSpPr>
          <p:cNvPr id="8" name="Text Placeholder 14"/>
          <p:cNvSpPr txBox="1">
            <a:spLocks noGrp="1"/>
          </p:cNvSpPr>
          <p:nvPr>
            <p:ph type="body" idx="4294967295"/>
          </p:nvPr>
        </p:nvSpPr>
        <p:spPr>
          <a:xfrm>
            <a:off x="590546" y="3861255"/>
            <a:ext cx="1990091" cy="179807"/>
          </a:xfrm>
        </p:spPr>
        <p:txBody>
          <a:bodyPr>
            <a:noAutofit/>
          </a:bodyPr>
          <a:lstStyle>
            <a:lvl1pPr marL="0" indent="0">
              <a:buNone/>
              <a:defRPr lang="en-GB" sz="1000">
                <a:solidFill>
                  <a:srgbClr val="FFFFFF"/>
                </a:solidFill>
                <a:latin typeface="Arial" pitchFamily="34"/>
                <a:cs typeface="Arial" pitchFamily="34"/>
              </a:defRPr>
            </a:lvl1pPr>
          </a:lstStyle>
          <a:p>
            <a:pPr lvl="0"/>
            <a:r>
              <a:rPr lang="en-GB"/>
              <a:t>City</a:t>
            </a:r>
            <a:endParaRPr lang="en-US"/>
          </a:p>
        </p:txBody>
      </p:sp>
      <p:sp>
        <p:nvSpPr>
          <p:cNvPr id="9" name="Text Placeholder 14"/>
          <p:cNvSpPr txBox="1">
            <a:spLocks noGrp="1"/>
          </p:cNvSpPr>
          <p:nvPr>
            <p:ph type="body" idx="4294967295"/>
          </p:nvPr>
        </p:nvSpPr>
        <p:spPr>
          <a:xfrm>
            <a:off x="590546" y="4330662"/>
            <a:ext cx="1990091" cy="179807"/>
          </a:xfrm>
        </p:spPr>
        <p:txBody>
          <a:bodyPr>
            <a:noAutofit/>
          </a:bodyPr>
          <a:lstStyle>
            <a:lvl1pPr marL="0" indent="0">
              <a:buNone/>
              <a:defRPr lang="en-GB" sz="1000" b="1">
                <a:solidFill>
                  <a:srgbClr val="FFFFFF"/>
                </a:solidFill>
                <a:latin typeface="Arial" pitchFamily="34"/>
                <a:cs typeface="Arial" pitchFamily="34"/>
              </a:defRPr>
            </a:lvl1pPr>
          </a:lstStyle>
          <a:p>
            <a:pPr lvl="0"/>
            <a:r>
              <a:rPr lang="en-GB"/>
              <a:t>CONTACT</a:t>
            </a:r>
            <a:endParaRPr lang="en-US"/>
          </a:p>
        </p:txBody>
      </p:sp>
      <p:sp>
        <p:nvSpPr>
          <p:cNvPr id="10" name="Text Placeholder 14"/>
          <p:cNvSpPr txBox="1">
            <a:spLocks noGrp="1"/>
          </p:cNvSpPr>
          <p:nvPr>
            <p:ph type="body" idx="4294967295"/>
          </p:nvPr>
        </p:nvSpPr>
        <p:spPr>
          <a:xfrm>
            <a:off x="590546" y="4574624"/>
            <a:ext cx="1990091" cy="461662"/>
          </a:xfrm>
        </p:spPr>
        <p:txBody>
          <a:bodyPr>
            <a:normAutofit/>
          </a:bodyPr>
          <a:lstStyle>
            <a:lvl1pPr marL="0" indent="0">
              <a:spcAft>
                <a:spcPts val="0"/>
              </a:spcAft>
              <a:buNone/>
              <a:defRPr lang="en-GB" sz="1000">
                <a:solidFill>
                  <a:srgbClr val="FFFFFF"/>
                </a:solidFill>
                <a:latin typeface="Arial" pitchFamily="34"/>
                <a:cs typeface="Arial" pitchFamily="34"/>
              </a:defRPr>
            </a:lvl1pPr>
          </a:lstStyle>
          <a:p>
            <a:pPr lvl="0"/>
            <a:r>
              <a:rPr lang="en-GB"/>
              <a:t>P: +XX.XXX.XXXX</a:t>
            </a:r>
            <a:br>
              <a:rPr lang="en-GB"/>
            </a:br>
            <a:r>
              <a:rPr lang="en-GB"/>
              <a:t>C: +XX.XXX.XXXX</a:t>
            </a:r>
            <a:br>
              <a:rPr lang="en-GB"/>
            </a:br>
            <a:r>
              <a:rPr lang="en-GB"/>
              <a:t>xxxxx.xxxxx@protiviti.com</a:t>
            </a:r>
            <a:endParaRPr lang="en-US"/>
          </a:p>
        </p:txBody>
      </p:sp>
      <p:sp>
        <p:nvSpPr>
          <p:cNvPr id="6" name="Slide Number Placeholder 2">
            <a:extLst>
              <a:ext uri="{FF2B5EF4-FFF2-40B4-BE49-F238E27FC236}">
                <a16:creationId xmlns:a16="http://schemas.microsoft.com/office/drawing/2014/main" id="{522CAF5D-E2E0-1F88-E451-FD95F9CF491E}"/>
              </a:ext>
            </a:extLst>
          </p:cNvPr>
          <p:cNvSpPr txBox="1">
            <a:spLocks noGrp="1"/>
          </p:cNvSpPr>
          <p:nvPr>
            <p:ph type="sldNum" sz="quarter" idx="10"/>
          </p:nvPr>
        </p:nvSpPr>
        <p:spPr>
          <a:xfrm>
            <a:off x="3082925" y="6356350"/>
            <a:ext cx="2743200" cy="365125"/>
          </a:xfrm>
        </p:spPr>
        <p:txBody>
          <a:bodyPr/>
          <a:lstStyle>
            <a:lvl1pPr>
              <a:defRPr/>
            </a:lvl1pPr>
          </a:lstStyle>
          <a:p>
            <a:pPr>
              <a:defRPr/>
            </a:pPr>
            <a:fld id="{4F575D67-FB95-4845-AD7B-4332D4B8AAEA}" type="slidenum">
              <a:rPr/>
              <a:pPr>
                <a:defRPr/>
              </a:pPr>
              <a:t>‹#›</a:t>
            </a:fld>
            <a:endParaRPr lang="en-US"/>
          </a:p>
        </p:txBody>
      </p:sp>
    </p:spTree>
    <p:extLst>
      <p:ext uri="{BB962C8B-B14F-4D97-AF65-F5344CB8AC3E}">
        <p14:creationId xmlns:p14="http://schemas.microsoft.com/office/powerpoint/2010/main" val="3771971391"/>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3376B0-DC7E-575C-8CDF-FC2734BFDE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AA38B5D-C508-3D5C-1477-ECDCCF86BE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D9D568E-6B57-C903-D533-CE9E6F764D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02FE44A8-6140-DEC7-9BB2-6CBFCD7F75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E940978A-8B25-4726-763A-580747A0E8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5A10AC3-96BB-47F6-8ECD-DBB4AE484DD7}" type="slidenum">
              <a:rPr lang="en-GB" smtClean="0"/>
              <a:t>‹#›</a:t>
            </a:fld>
            <a:endParaRPr lang="en-GB"/>
          </a:p>
        </p:txBody>
      </p:sp>
    </p:spTree>
    <p:extLst>
      <p:ext uri="{BB962C8B-B14F-4D97-AF65-F5344CB8AC3E}">
        <p14:creationId xmlns:p14="http://schemas.microsoft.com/office/powerpoint/2010/main" val="12867065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B9A09-563F-432E-D7D4-D043B28F6293}"/>
            </a:ext>
          </a:extLst>
        </p:cNvPr>
        <p:cNvGrpSpPr/>
        <p:nvPr/>
      </p:nvGrpSpPr>
      <p:grpSpPr>
        <a:xfrm>
          <a:off x="0" y="0"/>
          <a:ext cx="0" cy="0"/>
          <a:chOff x="0" y="0"/>
          <a:chExt cx="0" cy="0"/>
        </a:xfrm>
      </p:grpSpPr>
      <p:sp>
        <p:nvSpPr>
          <p:cNvPr id="2" name="Title 138">
            <a:extLst>
              <a:ext uri="{FF2B5EF4-FFF2-40B4-BE49-F238E27FC236}">
                <a16:creationId xmlns:a16="http://schemas.microsoft.com/office/drawing/2014/main" id="{C45B6AD6-FBB8-0717-4A42-12712FC2351A}"/>
              </a:ext>
            </a:extLst>
          </p:cNvPr>
          <p:cNvSpPr txBox="1">
            <a:spLocks noGrp="1"/>
          </p:cNvSpPr>
          <p:nvPr>
            <p:ph type="title"/>
          </p:nvPr>
        </p:nvSpPr>
        <p:spPr>
          <a:xfrm>
            <a:off x="448633" y="2241849"/>
            <a:ext cx="1990725" cy="990600"/>
          </a:xfrm>
        </p:spPr>
        <p:txBody>
          <a:bodyPr rtlCol="0">
            <a:normAutofit fontScale="90000"/>
          </a:bodyPr>
          <a:lstStyle/>
          <a:p>
            <a:pPr>
              <a:defRPr/>
            </a:pPr>
            <a:r>
              <a:rPr sz="3200" b="1">
                <a:latin typeface="Barlow"/>
              </a:rPr>
              <a:t>Mohit Choudhary</a:t>
            </a:r>
            <a:endParaRPr lang="en-US" dirty="0">
              <a:latin typeface="Barlow" panose="00000500000000000000" pitchFamily="2" charset="0"/>
            </a:endParaRPr>
          </a:p>
        </p:txBody>
      </p:sp>
      <p:sp>
        <p:nvSpPr>
          <p:cNvPr id="3" name="Text Placeholder 145">
            <a:extLst>
              <a:ext uri="{FF2B5EF4-FFF2-40B4-BE49-F238E27FC236}">
                <a16:creationId xmlns:a16="http://schemas.microsoft.com/office/drawing/2014/main" id="{2FC05A3F-88C0-49BF-338F-9F1260782657}"/>
              </a:ext>
            </a:extLst>
          </p:cNvPr>
          <p:cNvSpPr txBox="1"/>
          <p:nvPr/>
        </p:nvSpPr>
        <p:spPr>
          <a:xfrm>
            <a:off x="2927350" y="182880"/>
            <a:ext cx="1800225" cy="5232400"/>
          </a:xfrm>
          <a:prstGeom prst="rect">
            <a:avLst/>
          </a:prstGeom>
          <a:noFill/>
          <a:ln cap="flat">
            <a:noFill/>
          </a:ln>
        </p:spPr>
        <p:txBody>
          <a:bodyPr lIns="63500" tIns="63500" rIns="63500" bIns="63500"/>
          <a:lstStyle/>
          <a:p>
            <a:pPr marL="0" marR="0" lvl="2" indent="0" algn="l" defTabSz="914354" rtl="0" eaLnBrk="1" fontAlgn="auto" latinLnBrk="0" hangingPunct="1">
              <a:lnSpc>
                <a:spcPct val="100000"/>
              </a:lnSpc>
              <a:spcBef>
                <a:spcPts val="0"/>
              </a:spcBef>
              <a:spcAft>
                <a:spcPts val="400"/>
              </a:spcAft>
              <a:buClrTx/>
              <a:buSzTx/>
              <a:buFontTx/>
              <a:buNone/>
              <a:tabLst/>
              <a:defRPr sz="1800" b="0" i="0" u="none" strike="noStrike" kern="0" cap="none" spc="0" baseline="0">
                <a:solidFill>
                  <a:srgbClr val="000000"/>
                </a:solidFill>
                <a:uFillTx/>
              </a:defRPr>
            </a:pPr>
            <a:r>
              <a:rPr sz="900" b="1">
                <a:solidFill>
                  <a:srgbClr val="00ACC4"/>
                </a:solidFill>
                <a:latin typeface="Barlow"/>
              </a:rPr>
              <a:t>AREAS OF EXPERTISE</a:t>
            </a:r>
          </a:p>
          <a:p>
            <a:pPr algn="l">
              <a:lnSpc>
                <a:spcPts val="1100"/>
              </a:lnSpc>
              <a:spcAft>
                <a:spcPts val="200"/>
              </a:spcAft>
            </a:pPr>
            <a:r>
              <a:rPr sz="800" b="0">
                <a:latin typeface="Barlow"/>
              </a:rPr>
              <a:t>• Finacle-7/10/11</a:t>
            </a:r>
          </a:p>
          <a:p>
            <a:pPr algn="l">
              <a:lnSpc>
                <a:spcPts val="1100"/>
              </a:lnSpc>
              <a:spcAft>
                <a:spcPts val="200"/>
              </a:spcAft>
            </a:pPr>
            <a:r>
              <a:rPr sz="800" b="0">
                <a:latin typeface="Barlow"/>
              </a:rPr>
              <a:t>• Credit Risk</a:t>
            </a:r>
          </a:p>
          <a:p>
            <a:pPr algn="l">
              <a:lnSpc>
                <a:spcPts val="1100"/>
              </a:lnSpc>
              <a:spcAft>
                <a:spcPts val="200"/>
              </a:spcAft>
            </a:pPr>
            <a:r>
              <a:rPr sz="800" b="0">
                <a:latin typeface="Barlow"/>
              </a:rPr>
              <a:t>• Regulatory Capital</a:t>
            </a:r>
          </a:p>
          <a:p>
            <a:pPr algn="l">
              <a:lnSpc>
                <a:spcPts val="1100"/>
              </a:lnSpc>
              <a:spcAft>
                <a:spcPts val="200"/>
              </a:spcAft>
            </a:pPr>
            <a:r>
              <a:rPr sz="800" b="0">
                <a:latin typeface="Barlow"/>
              </a:rPr>
              <a:t>• Basel-III/3.1</a:t>
            </a:r>
          </a:p>
          <a:p>
            <a:pPr algn="l">
              <a:lnSpc>
                <a:spcPts val="1100"/>
              </a:lnSpc>
              <a:spcAft>
                <a:spcPts val="200"/>
              </a:spcAft>
            </a:pPr>
            <a:r>
              <a:rPr sz="800" b="0">
                <a:latin typeface="Barlow"/>
              </a:rPr>
              <a:t>• RWA</a:t>
            </a:r>
          </a:p>
          <a:p>
            <a:pPr algn="l">
              <a:lnSpc>
                <a:spcPts val="1100"/>
              </a:lnSpc>
              <a:spcAft>
                <a:spcPts val="200"/>
              </a:spcAft>
            </a:pPr>
            <a:r>
              <a:rPr sz="800" b="0">
                <a:latin typeface="Barlow"/>
              </a:rPr>
              <a:t>• EAD</a:t>
            </a:r>
          </a:p>
          <a:p>
            <a:pPr algn="l">
              <a:lnSpc>
                <a:spcPts val="1100"/>
              </a:lnSpc>
              <a:spcAft>
                <a:spcPts val="200"/>
              </a:spcAft>
            </a:pPr>
            <a:r>
              <a:rPr sz="800" b="0">
                <a:latin typeface="Barlow"/>
              </a:rPr>
              <a:t>• PD</a:t>
            </a:r>
          </a:p>
          <a:p>
            <a:pPr algn="l">
              <a:lnSpc>
                <a:spcPts val="1100"/>
              </a:lnSpc>
              <a:spcAft>
                <a:spcPts val="200"/>
              </a:spcAft>
            </a:pPr>
            <a:r>
              <a:rPr sz="800" b="0">
                <a:latin typeface="Barlow"/>
              </a:rPr>
              <a:t>• LGD</a:t>
            </a:r>
          </a:p>
          <a:p>
            <a:pPr algn="l">
              <a:lnSpc>
                <a:spcPts val="1100"/>
              </a:lnSpc>
              <a:spcAft>
                <a:spcPts val="200"/>
              </a:spcAft>
            </a:pPr>
            <a:r>
              <a:rPr sz="800" b="0">
                <a:latin typeface="Barlow"/>
              </a:rPr>
              <a:t>• ECL</a:t>
            </a:r>
          </a:p>
          <a:p>
            <a:pPr algn="l">
              <a:lnSpc>
                <a:spcPts val="1100"/>
              </a:lnSpc>
              <a:spcAft>
                <a:spcPts val="200"/>
              </a:spcAft>
            </a:pPr>
            <a:r>
              <a:rPr sz="800" b="0">
                <a:latin typeface="Barlow"/>
              </a:rPr>
              <a:t>• AML</a:t>
            </a:r>
          </a:p>
          <a:p>
            <a:pPr algn="l">
              <a:lnSpc>
                <a:spcPts val="1100"/>
              </a:lnSpc>
              <a:spcAft>
                <a:spcPts val="200"/>
              </a:spcAft>
            </a:pPr>
            <a:r>
              <a:rPr sz="800" b="0">
                <a:latin typeface="Barlow"/>
              </a:rPr>
              <a:t>• UAT</a:t>
            </a:r>
          </a:p>
          <a:p>
            <a:pPr algn="l">
              <a:lnSpc>
                <a:spcPts val="1100"/>
              </a:lnSpc>
              <a:spcAft>
                <a:spcPts val="200"/>
              </a:spcAft>
            </a:pPr>
            <a:r>
              <a:rPr sz="800" b="0">
                <a:latin typeface="Barlow"/>
              </a:rPr>
              <a:t>• BRD</a:t>
            </a:r>
          </a:p>
          <a:p>
            <a:pPr algn="l">
              <a:lnSpc>
                <a:spcPts val="1100"/>
              </a:lnSpc>
              <a:spcAft>
                <a:spcPts val="200"/>
              </a:spcAft>
            </a:pPr>
            <a:r>
              <a:rPr sz="800" b="0">
                <a:latin typeface="Barlow"/>
              </a:rPr>
              <a:t>• FRD</a:t>
            </a:r>
          </a:p>
          <a:p>
            <a:pPr algn="l">
              <a:lnSpc>
                <a:spcPts val="1100"/>
              </a:lnSpc>
              <a:spcAft>
                <a:spcPts val="200"/>
              </a:spcAft>
            </a:pPr>
            <a:r>
              <a:rPr sz="800" b="0">
                <a:latin typeface="Barlow"/>
              </a:rPr>
              <a:t>• AS-IS/TO-BE</a:t>
            </a:r>
          </a:p>
          <a:p>
            <a:pPr algn="l">
              <a:lnSpc>
                <a:spcPts val="1100"/>
              </a:lnSpc>
              <a:spcAft>
                <a:spcPts val="200"/>
              </a:spcAft>
            </a:pPr>
            <a:r>
              <a:rPr sz="800" b="0">
                <a:latin typeface="Barlow"/>
              </a:rPr>
              <a:t>• Process Mapping</a:t>
            </a:r>
          </a:p>
          <a:p>
            <a:pPr algn="l">
              <a:lnSpc>
                <a:spcPts val="1100"/>
              </a:lnSpc>
              <a:spcAft>
                <a:spcPts val="200"/>
              </a:spcAft>
            </a:pPr>
            <a:r>
              <a:rPr sz="800" b="0">
                <a:latin typeface="Barlow"/>
              </a:rPr>
              <a:t>• Data Modeling</a:t>
            </a:r>
          </a:p>
          <a:p>
            <a:pPr algn="l">
              <a:lnSpc>
                <a:spcPts val="1100"/>
              </a:lnSpc>
              <a:spcAft>
                <a:spcPts val="200"/>
              </a:spcAft>
            </a:pPr>
            <a:r>
              <a:rPr sz="800" b="0">
                <a:latin typeface="Barlow"/>
              </a:rPr>
              <a:t>• Excel-Advanced</a:t>
            </a:r>
          </a:p>
          <a:p>
            <a:pPr algn="l">
              <a:lnSpc>
                <a:spcPts val="1100"/>
              </a:lnSpc>
              <a:spcAft>
                <a:spcPts val="200"/>
              </a:spcAft>
            </a:pPr>
            <a:r>
              <a:rPr sz="800" b="0">
                <a:latin typeface="Barlow"/>
              </a:rPr>
              <a:t>• OCR</a:t>
            </a:r>
          </a:p>
          <a:p>
            <a:pPr algn="l">
              <a:lnSpc>
                <a:spcPts val="1100"/>
              </a:lnSpc>
              <a:spcAft>
                <a:spcPts val="200"/>
              </a:spcAft>
            </a:pPr>
            <a:r>
              <a:rPr sz="800" b="0">
                <a:latin typeface="Barlow"/>
              </a:rPr>
              <a:t>• UCP-600</a:t>
            </a:r>
          </a:p>
          <a:p>
            <a:pPr algn="l">
              <a:lnSpc>
                <a:spcPts val="1100"/>
              </a:lnSpc>
              <a:spcAft>
                <a:spcPts val="200"/>
              </a:spcAft>
            </a:pPr>
            <a:r>
              <a:rPr sz="800" b="0">
                <a:latin typeface="Barlow"/>
              </a:rPr>
              <a:t>• URDG-758</a:t>
            </a:r>
          </a:p>
          <a:p>
            <a:pPr>
              <a:spcBef>
                <a:spcPts val="1200"/>
              </a:spcBef>
              <a:spcAft>
                <a:spcPts val="400"/>
              </a:spcAft>
            </a:pPr>
            <a:r>
              <a:rPr sz="900" b="1">
                <a:solidFill>
                  <a:srgbClr val="00ACC4"/>
                </a:solidFill>
                <a:latin typeface="Barlow"/>
              </a:rPr>
              <a:t>INDUSTRY EXPERTISE</a:t>
            </a:r>
          </a:p>
          <a:p>
            <a:pPr algn="l">
              <a:lnSpc>
                <a:spcPts val="1100"/>
              </a:lnSpc>
              <a:spcAft>
                <a:spcPts val="200"/>
              </a:spcAft>
            </a:pPr>
            <a:r>
              <a:rPr sz="800" b="0">
                <a:latin typeface="Barlow"/>
              </a:rPr>
              <a:t>• Credit Risk Management</a:t>
            </a:r>
          </a:p>
          <a:p>
            <a:pPr algn="l">
              <a:lnSpc>
                <a:spcPts val="1100"/>
              </a:lnSpc>
              <a:spcAft>
                <a:spcPts val="200"/>
              </a:spcAft>
            </a:pPr>
            <a:r>
              <a:rPr sz="800" b="0">
                <a:latin typeface="Barlow"/>
              </a:rPr>
              <a:t>• Regulatory Capital Reporting</a:t>
            </a:r>
          </a:p>
          <a:p>
            <a:pPr algn="l">
              <a:lnSpc>
                <a:spcPts val="1100"/>
              </a:lnSpc>
              <a:spcAft>
                <a:spcPts val="200"/>
              </a:spcAft>
            </a:pPr>
            <a:r>
              <a:rPr sz="800" b="0">
                <a:latin typeface="Barlow"/>
              </a:rPr>
              <a:t>• Core Banking Solutions</a:t>
            </a:r>
          </a:p>
          <a:p>
            <a:pPr algn="l">
              <a:lnSpc>
                <a:spcPts val="1100"/>
              </a:lnSpc>
              <a:spcAft>
                <a:spcPts val="200"/>
              </a:spcAft>
            </a:pPr>
            <a:r>
              <a:rPr sz="800" b="0">
                <a:latin typeface="Barlow"/>
              </a:rPr>
              <a:t>• Trade Finance</a:t>
            </a:r>
          </a:p>
          <a:p>
            <a:pPr>
              <a:spcBef>
                <a:spcPts val="1200"/>
              </a:spcBef>
              <a:spcAft>
                <a:spcPts val="400"/>
              </a:spcAft>
            </a:pPr>
            <a:r>
              <a:rPr sz="900" b="1">
                <a:solidFill>
                  <a:srgbClr val="00ACC4"/>
                </a:solidFill>
                <a:latin typeface="Barlow"/>
              </a:rPr>
              <a:t>EDUCATION</a:t>
            </a:r>
          </a:p>
          <a:p>
            <a:pPr algn="l">
              <a:lnSpc>
                <a:spcPts val="1100"/>
              </a:lnSpc>
              <a:spcAft>
                <a:spcPts val="200"/>
              </a:spcAft>
            </a:pPr>
            <a:r>
              <a:rPr sz="800" b="0">
                <a:latin typeface="Barlow"/>
              </a:rPr>
              <a:t>• Post Graduate Diploma in Banking (PGDB)/ MBA</a:t>
            </a:r>
          </a:p>
          <a:p>
            <a:pPr algn="l">
              <a:lnSpc>
                <a:spcPts val="1100"/>
              </a:lnSpc>
              <a:spcAft>
                <a:spcPts val="200"/>
              </a:spcAft>
            </a:pPr>
            <a:r>
              <a:rPr sz="800" b="0">
                <a:latin typeface="Barlow"/>
              </a:rPr>
              <a:t>• B.Tech (Bachelor of Technology)</a:t>
            </a:r>
          </a:p>
        </p:txBody>
      </p:sp>
      <p:sp>
        <p:nvSpPr>
          <p:cNvPr id="4" name="Text Placeholder 144">
            <a:extLst>
              <a:ext uri="{FF2B5EF4-FFF2-40B4-BE49-F238E27FC236}">
                <a16:creationId xmlns:a16="http://schemas.microsoft.com/office/drawing/2014/main" id="{8D0EE6E6-4543-7AB0-F39E-8600E0291205}"/>
              </a:ext>
            </a:extLst>
          </p:cNvPr>
          <p:cNvSpPr txBox="1"/>
          <p:nvPr/>
        </p:nvSpPr>
        <p:spPr>
          <a:xfrm>
            <a:off x="4940300" y="182880"/>
            <a:ext cx="6854825" cy="5694363"/>
          </a:xfrm>
          <a:prstGeom prst="rect">
            <a:avLst/>
          </a:prstGeom>
          <a:noFill/>
          <a:ln cap="flat">
            <a:noFill/>
          </a:ln>
        </p:spPr>
        <p:txBody>
          <a:bodyPr lIns="0" tIns="0" rIns="0" bIns="0" wrap="square"/>
          <a:lstStyle/>
          <a:p>
            <a:pPr marL="0" marR="0" lvl="0" indent="0" algn="l" defTabSz="914354" rtl="0" eaLnBrk="1" fontAlgn="auto" latinLnBrk="0" hangingPunct="1">
              <a:lnSpc>
                <a:spcPct val="100000"/>
              </a:lnSpc>
              <a:spcBef>
                <a:spcPts val="150"/>
              </a:spcBef>
              <a:spcAft>
                <a:spcPts val="150"/>
              </a:spcAft>
              <a:buClrTx/>
              <a:buSzTx/>
              <a:buFontTx/>
              <a:buNone/>
              <a:tabLst/>
              <a:defRPr sz="1800" b="0" i="0" u="none" strike="noStrike" kern="0" cap="none" spc="0" baseline="0">
                <a:solidFill>
                  <a:srgbClr val="000000"/>
                </a:solidFill>
                <a:uFillTx/>
              </a:defRPr>
            </a:pPr>
            <a:r>
              <a:rPr kumimoji="0" lang="en-GB" sz="900" b="1" i="0" u="none" strike="noStrike" kern="0" cap="none" spc="0" normalizeH="0" baseline="0" noProof="0" dirty="0">
                <a:ln>
                  <a:noFill/>
                </a:ln>
                <a:solidFill>
                  <a:srgbClr val="00ACC4"/>
                </a:solidFill>
                <a:effectLst/>
                <a:uLnTx/>
                <a:uFillTx/>
                <a:latin typeface="Barlow" panose="00000500000000000000" pitchFamily="2" charset="0"/>
                <a:cs typeface="Arial" pitchFamily="34"/>
              </a:rPr>
              <a:t>PROFESSIONAL EXPERIENCE</a:t>
            </a:r>
          </a:p>
          <a:p>
            <a:pPr lvl="0">
              <a:lnSpc>
                <a:spcPts val="1000"/>
              </a:lnSpc>
              <a:spcBef>
                <a:spcPts val="100"/>
              </a:spcBef>
              <a:spcAft>
                <a:spcPts val="200"/>
              </a:spcAft>
              <a:defRPr/>
            </a:pPr>
            <a:r>
              <a:rPr sz="800" b="1">
                <a:latin typeface="Barlow"/>
              </a:rPr>
              <a:t>Mohit Choudhary has 10 years of experience as a Senior Functional Consultant specializing in Credit Risk and Regulatory Capital within the Banking industry.</a:t>
            </a:r>
            <a:r>
              <a:rPr sz="800" b="0">
                <a:latin typeface="Barlow"/>
              </a:rPr>
              <a:t> He possesses deep expertise in core banking platforms, particularly Finacle versions 7, 10 and 11, where he validates complex business processes such as credit appraisal, drawing power calculations and trade cycles. His skill set includes drafting BRDs and FRDs, leading UAT coordination, and performing data modeling using advanced Excel. Mohit has successfully delivered digital lending, overdraft automation, and early warning signal solutions across major Indian banks, collaborating with risk underwriters, IT architects and senior stakeholders to ensure regulatory compliance and operational efficiency.</a:t>
            </a:r>
            <a:endParaRPr kumimoji="0" lang="en-US" sz="900" i="0" u="none" strike="noStrike" kern="1200" cap="none" spc="0" normalizeH="0" baseline="0" noProof="0" dirty="0">
              <a:ln>
                <a:noFill/>
              </a:ln>
              <a:solidFill>
                <a:srgbClr val="00ACC4"/>
              </a:solidFill>
              <a:effectLst/>
              <a:uLnTx/>
              <a:uFillTx/>
              <a:latin typeface="Barlow" panose="00000500000000000000" pitchFamily="2" charset="0"/>
              <a:cs typeface="Arial" pitchFamily="34"/>
            </a:endParaRPr>
          </a:p>
          <a:p>
            <a:pPr lvl="0">
              <a:spcBef>
                <a:spcPts val="1200"/>
              </a:spcBef>
              <a:spcAft>
                <a:spcPts val="400"/>
              </a:spcAft>
              <a:defRPr/>
            </a:pPr>
            <a:r>
              <a:rPr kumimoji="0" lang="en-GB" sz="900" b="1" i="0" u="none" strike="noStrike" kern="1200" cap="none" spc="0" normalizeH="0" baseline="0" noProof="0" dirty="0">
                <a:ln>
                  <a:noFill/>
                </a:ln>
                <a:solidFill>
                  <a:srgbClr val="00ACC4"/>
                </a:solidFill>
                <a:effectLst/>
                <a:uLnTx/>
                <a:uFillTx/>
                <a:latin typeface="Barlow" panose="00000500000000000000" pitchFamily="2" charset="0"/>
                <a:cs typeface="Arial" pitchFamily="34"/>
              </a:rPr>
              <a:t>MAJOR PROJECTS</a:t>
            </a:r>
          </a:p>
          <a:p>
            <a:pPr>
              <a:lnSpc>
                <a:spcPts val="1000"/>
              </a:lnSpc>
              <a:spcBef>
                <a:spcPts val="300"/>
              </a:spcBef>
              <a:spcAft>
                <a:spcPts val="50"/>
              </a:spcAft>
            </a:pPr>
            <a:r>
              <a:rPr b="1" sz="800">
                <a:latin typeface="Barlow"/>
              </a:rPr>
              <a:t>Banking – Small Business Digital Lending Interface Optimization – Senior Functional Risk Analyst</a:t>
            </a:r>
          </a:p>
          <a:p>
            <a:pPr>
              <a:lnSpc>
                <a:spcPts val="950"/>
              </a:lnSpc>
              <a:spcBef>
                <a:spcPts val="100"/>
              </a:spcBef>
              <a:spcAft>
                <a:spcPts val="100"/>
              </a:spcAft>
            </a:pPr>
            <a:r>
              <a:rPr sz="800" b="0">
                <a:latin typeface="Barlow"/>
              </a:rPr>
              <a:t>• Designed and authored comprehensive business requirement documents and functional specifications that transformed a confusing single-page application into a step-by-step guided lending wizard, resulting in reduced application drop-outs.</a:t>
            </a:r>
          </a:p>
          <a:p>
            <a:pPr>
              <a:lnSpc>
                <a:spcPts val="1000"/>
              </a:lnSpc>
              <a:spcBef>
                <a:spcPts val="300"/>
              </a:spcBef>
              <a:spcAft>
                <a:spcPts val="50"/>
              </a:spcAft>
            </a:pPr>
            <a:r>
              <a:rPr b="1" sz="800">
                <a:latin typeface="Barlow"/>
              </a:rPr>
              <a:t>Trade Finance – Automated Letter of Credit Compliance Validation Portal – Senior Functional Risk Analyst</a:t>
            </a:r>
          </a:p>
          <a:p>
            <a:pPr>
              <a:lnSpc>
                <a:spcPts val="950"/>
              </a:lnSpc>
              <a:spcBef>
                <a:spcPts val="100"/>
              </a:spcBef>
              <a:spcAft>
                <a:spcPts val="100"/>
              </a:spcAft>
            </a:pPr>
            <a:r>
              <a:rPr sz="800" b="0">
                <a:latin typeface="Barlow"/>
              </a:rPr>
              <a:t>• Served as core banking SME to translate UCP 600 trade regulations into validation parameters within Finacle 11, establishing automated compliance checks for letter of credit transactions.</a:t>
            </a:r>
          </a:p>
          <a:p>
            <a:pPr>
              <a:lnSpc>
                <a:spcPts val="1000"/>
              </a:lnSpc>
              <a:spcBef>
                <a:spcPts val="300"/>
              </a:spcBef>
              <a:spcAft>
                <a:spcPts val="50"/>
              </a:spcAft>
            </a:pPr>
            <a:r>
              <a:rPr b="1" sz="800">
                <a:latin typeface="Barlow"/>
              </a:rPr>
              <a:t>Banking – Digital Overdraft &amp; Renewal Automation Platform – Senior Manager – Credit Risk &amp; Process Analyst</a:t>
            </a:r>
          </a:p>
          <a:p>
            <a:pPr>
              <a:lnSpc>
                <a:spcPts val="950"/>
              </a:lnSpc>
              <a:spcBef>
                <a:spcPts val="100"/>
              </a:spcBef>
              <a:spcAft>
                <a:spcPts val="100"/>
              </a:spcAft>
            </a:pPr>
            <a:r>
              <a:rPr sz="800" b="0">
                <a:latin typeface="Barlow"/>
              </a:rPr>
              <a:t>• Analyzed legacy overdraft renewal workflow and designed an OCR-enabled digital platform that cut renewal cycle time from twelve days to forty‑eight hours, dramatically improving service speed.</a:t>
            </a:r>
          </a:p>
          <a:p>
            <a:pPr>
              <a:lnSpc>
                <a:spcPts val="950"/>
              </a:lnSpc>
              <a:spcBef>
                <a:spcPts val="100"/>
              </a:spcBef>
              <a:spcAft>
                <a:spcPts val="100"/>
              </a:spcAft>
            </a:pPr>
            <a:r>
              <a:rPr sz="800" b="0">
                <a:latin typeface="Barlow"/>
              </a:rPr>
              <a:t>• Validated business rules engine parameters in Finacle 10 to automatically bypass automated renewal when corporate turnover dropped over 20%, routing cases for manual underwriter review and mitigating credit risk.</a:t>
            </a:r>
          </a:p>
          <a:p>
            <a:pPr>
              <a:lnSpc>
                <a:spcPts val="1000"/>
              </a:lnSpc>
              <a:spcBef>
                <a:spcPts val="300"/>
              </a:spcBef>
              <a:spcAft>
                <a:spcPts val="50"/>
              </a:spcAft>
            </a:pPr>
            <a:r>
              <a:rPr b="1" sz="800">
                <a:latin typeface="Barlow"/>
              </a:rPr>
              <a:t>Credit Risk – Automated Scoring Engine Upgrade – Senior Manager – Credit Risk &amp; Process Analyst</a:t>
            </a:r>
          </a:p>
          <a:p>
            <a:pPr>
              <a:lnSpc>
                <a:spcPts val="950"/>
              </a:lnSpc>
              <a:spcBef>
                <a:spcPts val="100"/>
              </a:spcBef>
              <a:spcAft>
                <a:spcPts val="100"/>
              </a:spcAft>
            </a:pPr>
            <a:r>
              <a:rPr sz="800" b="0">
                <a:latin typeface="Barlow"/>
              </a:rPr>
              <a:t>• Translated complex credit appraisal policies into functional logic strings that automated PD flagging for ratings below BBB, LGD calculations with a 25% haircut, and ECL triggers for assets overdue 90 days, supporting Basel capital modeling.</a:t>
            </a:r>
          </a:p>
          <a:p>
            <a:pPr>
              <a:lnSpc>
                <a:spcPts val="950"/>
              </a:lnSpc>
              <a:spcBef>
                <a:spcPts val="100"/>
              </a:spcBef>
              <a:spcAft>
                <a:spcPts val="100"/>
              </a:spcAft>
            </a:pPr>
            <a:r>
              <a:rPr sz="800" b="0">
                <a:latin typeface="Barlow"/>
              </a:rPr>
              <a:t>• Authored detailed user stories and acceptance criteria that locked workflow execution when collateral coverage fell below the 1.33× baseline, ensuring strict compliance with internal risk thresholds.</a:t>
            </a:r>
          </a:p>
          <a:p>
            <a:pPr>
              <a:lnSpc>
                <a:spcPts val="1000"/>
              </a:lnSpc>
              <a:spcBef>
                <a:spcPts val="300"/>
              </a:spcBef>
              <a:spcAft>
                <a:spcPts val="50"/>
              </a:spcAft>
            </a:pPr>
            <a:r>
              <a:rPr b="1" sz="800">
                <a:latin typeface="Barlow"/>
              </a:rPr>
              <a:t>Supply Chain Finance – Invoice Discounting H2H Portal Integration – Senior Manager – Credit Risk &amp; Process Analyst</a:t>
            </a:r>
          </a:p>
          <a:p>
            <a:pPr>
              <a:lnSpc>
                <a:spcPts val="950"/>
              </a:lnSpc>
              <a:spcBef>
                <a:spcPts val="100"/>
              </a:spcBef>
              <a:spcAft>
                <a:spcPts val="100"/>
              </a:spcAft>
            </a:pPr>
            <a:r>
              <a:rPr sz="800" b="0">
                <a:latin typeface="Barlow"/>
              </a:rPr>
              <a:t>• Designed functional end-to-end testing plans for a secure host-to-host API linking corporate ERP systems with core banking, enabling instant invoice discounting and high-volume bulk processing.</a:t>
            </a:r>
          </a:p>
          <a:p>
            <a:pPr>
              <a:lnSpc>
                <a:spcPts val="950"/>
              </a:lnSpc>
              <a:spcBef>
                <a:spcPts val="100"/>
              </a:spcBef>
              <a:spcAft>
                <a:spcPts val="100"/>
              </a:spcAft>
            </a:pPr>
            <a:r>
              <a:rPr sz="800" b="0">
                <a:latin typeface="Barlow"/>
              </a:rPr>
              <a:t>• Executed UAT scripts that injected corrupted IFSC fields to uncover data validation gaps, documented defects, and coordinated remediation, achieving clean sign-off from business stakeholders.</a:t>
            </a:r>
          </a:p>
          <a:p>
            <a:pPr>
              <a:lnSpc>
                <a:spcPts val="1000"/>
              </a:lnSpc>
              <a:spcBef>
                <a:spcPts val="300"/>
              </a:spcBef>
              <a:spcAft>
                <a:spcPts val="50"/>
              </a:spcAft>
            </a:pPr>
            <a:r>
              <a:rPr b="1" sz="800">
                <a:latin typeface="Barlow"/>
              </a:rPr>
              <a:t>Corporate Lending – Automated Early Warning Signal Dashboard – Senior Manager – Business Banking Asset Analyst</a:t>
            </a:r>
          </a:p>
          <a:p>
            <a:pPr>
              <a:lnSpc>
                <a:spcPts val="950"/>
              </a:lnSpc>
              <a:spcBef>
                <a:spcPts val="100"/>
              </a:spcBef>
              <a:spcAft>
                <a:spcPts val="100"/>
              </a:spcAft>
            </a:pPr>
            <a:r>
              <a:rPr sz="800" b="0">
                <a:latin typeface="Barlow"/>
              </a:rPr>
              <a:t>• Engineered an early warning signal dashboard that aggregated live transaction feeds, automatically identifying stressed credit profiles when fund-insufficient checks exceeded three per month or inventory audits dropped over 25%.</a:t>
            </a:r>
          </a:p>
          <a:p>
            <a:pPr>
              <a:lnSpc>
                <a:spcPts val="950"/>
              </a:lnSpc>
              <a:spcBef>
                <a:spcPts val="100"/>
              </a:spcBef>
              <a:spcAft>
                <a:spcPts val="100"/>
              </a:spcAft>
            </a:pPr>
            <a:r>
              <a:rPr sz="800" b="0">
                <a:latin typeface="Barlow"/>
              </a:rPr>
              <a:t>• Authored end-to-end test scenarios based on credit policy rules, verifying system capability to lock active draw-downs during critical alerts and prevent further exposure.</a:t>
            </a:r>
          </a:p>
        </p:txBody>
      </p:sp>
    </p:spTree>
    <p:extLst>
      <p:ext uri="{BB962C8B-B14F-4D97-AF65-F5344CB8AC3E}">
        <p14:creationId xmlns:p14="http://schemas.microsoft.com/office/powerpoint/2010/main" val="18280369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a9d90964-91d3-4c01-ab00-563f95f00a38}" enabled="0" method="" siteId="{a9d90964-91d3-4c01-ab00-563f95f00a38}" removed="1"/>
  <clbl:label id="{da623df2-7a25-4a8f-b59b-3a3459c1375f}" enabled="1" method="Standard" siteId="{16532572-d567-4d67-8727-f12f7bb6aed3}" removed="0"/>
</clbl:labelList>
</file>

<file path=docProps/app.xml><?xml version="1.0" encoding="utf-8"?>
<Properties xmlns="http://schemas.openxmlformats.org/officeDocument/2006/extended-properties" xmlns:vt="http://schemas.openxmlformats.org/officeDocument/2006/docPropsVTypes">
  <TotalTime>0</TotalTime>
  <Words>702</Words>
  <Application>Microsoft Office PowerPoint</Application>
  <PresentationFormat>Widescreen</PresentationFormat>
  <Paragraphs>24</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Aptos Display</vt:lpstr>
      <vt:lpstr>Arial</vt:lpstr>
      <vt:lpstr>Barlow</vt:lpstr>
      <vt:lpstr>Barlow Condensed Medium</vt:lpstr>
      <vt:lpstr>Calibri</vt:lpstr>
      <vt:lpstr>Office Theme</vt:lpstr>
      <vt:lpstr>FirstName  LastName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2026-07-01T07:48:12Z</dcterms:created>
  <dcterms:modified xsi:type="dcterms:W3CDTF">2026-08-09T04:36:36Z</dcterms:modified>
</cp:coreProperties>
</file>