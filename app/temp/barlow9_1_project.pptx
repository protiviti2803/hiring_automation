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Vikramaditya Roy</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200"/>
              </a:lnSpc>
              <a:spcAft>
                <a:spcPts val="200"/>
              </a:spcAft>
            </a:pPr>
            <a:r>
              <a:rPr sz="900" b="0">
                <a:latin typeface="Barlow"/>
              </a:rPr>
              <a:t>• Credit Risk</a:t>
            </a:r>
          </a:p>
          <a:p>
            <a:pPr algn="l">
              <a:lnSpc>
                <a:spcPts val="1200"/>
              </a:lnSpc>
              <a:spcAft>
                <a:spcPts val="200"/>
              </a:spcAft>
            </a:pPr>
            <a:r>
              <a:rPr sz="900" b="0">
                <a:latin typeface="Barlow"/>
              </a:rPr>
              <a:t>• Basel III/3.1</a:t>
            </a:r>
          </a:p>
          <a:p>
            <a:pPr algn="l">
              <a:lnSpc>
                <a:spcPts val="1200"/>
              </a:lnSpc>
              <a:spcAft>
                <a:spcPts val="200"/>
              </a:spcAft>
            </a:pPr>
            <a:r>
              <a:rPr sz="900" b="0">
                <a:latin typeface="Barlow"/>
              </a:rPr>
              <a:t>• RWA Modeling</a:t>
            </a:r>
          </a:p>
          <a:p>
            <a:pPr algn="l">
              <a:lnSpc>
                <a:spcPts val="1200"/>
              </a:lnSpc>
              <a:spcAft>
                <a:spcPts val="200"/>
              </a:spcAft>
            </a:pPr>
            <a:r>
              <a:rPr sz="900" b="0">
                <a:latin typeface="Barlow"/>
              </a:rPr>
              <a:t>• Regulatory Reporting</a:t>
            </a:r>
          </a:p>
          <a:p>
            <a:pPr algn="l">
              <a:lnSpc>
                <a:spcPts val="1200"/>
              </a:lnSpc>
              <a:spcAft>
                <a:spcPts val="200"/>
              </a:spcAft>
            </a:pPr>
            <a:r>
              <a:rPr sz="900" b="0">
                <a:latin typeface="Barlow"/>
              </a:rPr>
              <a:t>• SQL</a:t>
            </a:r>
          </a:p>
          <a:p>
            <a:pPr algn="l">
              <a:lnSpc>
                <a:spcPts val="1200"/>
              </a:lnSpc>
              <a:spcAft>
                <a:spcPts val="200"/>
              </a:spcAft>
            </a:pPr>
            <a:r>
              <a:rPr sz="900" b="0">
                <a:latin typeface="Barlow"/>
              </a:rPr>
              <a:t>• Python</a:t>
            </a:r>
          </a:p>
          <a:p>
            <a:pPr algn="l">
              <a:lnSpc>
                <a:spcPts val="1200"/>
              </a:lnSpc>
              <a:spcAft>
                <a:spcPts val="200"/>
              </a:spcAft>
            </a:pPr>
            <a:r>
              <a:rPr sz="900" b="0">
                <a:latin typeface="Barlow"/>
              </a:rPr>
              <a:t>• Tableau</a:t>
            </a:r>
          </a:p>
          <a:p>
            <a:pPr algn="l">
              <a:lnSpc>
                <a:spcPts val="1200"/>
              </a:lnSpc>
              <a:spcAft>
                <a:spcPts val="200"/>
              </a:spcAft>
            </a:pPr>
            <a:r>
              <a:rPr sz="900" b="0">
                <a:latin typeface="Barlow"/>
              </a:rPr>
              <a:t>• JIRA</a:t>
            </a:r>
          </a:p>
          <a:p>
            <a:pPr algn="l">
              <a:lnSpc>
                <a:spcPts val="1200"/>
              </a:lnSpc>
              <a:spcAft>
                <a:spcPts val="200"/>
              </a:spcAft>
            </a:pPr>
            <a:r>
              <a:rPr sz="900" b="0">
                <a:latin typeface="Barlow"/>
              </a:rPr>
              <a:t>• UAT</a:t>
            </a:r>
          </a:p>
          <a:p>
            <a:pPr algn="l">
              <a:lnSpc>
                <a:spcPts val="1200"/>
              </a:lnSpc>
              <a:spcAft>
                <a:spcPts val="200"/>
              </a:spcAft>
            </a:pPr>
            <a:r>
              <a:rPr sz="900" b="0">
                <a:latin typeface="Barlow"/>
              </a:rPr>
              <a:t>• Agile</a:t>
            </a:r>
          </a:p>
          <a:p>
            <a:pPr algn="l">
              <a:lnSpc>
                <a:spcPts val="1200"/>
              </a:lnSpc>
              <a:spcAft>
                <a:spcPts val="200"/>
              </a:spcAft>
            </a:pPr>
            <a:r>
              <a:rPr sz="900" b="0">
                <a:latin typeface="Barlow"/>
              </a:rPr>
              <a:t>• PRA</a:t>
            </a:r>
          </a:p>
          <a:p>
            <a:pPr algn="l">
              <a:lnSpc>
                <a:spcPts val="1200"/>
              </a:lnSpc>
              <a:spcAft>
                <a:spcPts val="200"/>
              </a:spcAft>
            </a:pPr>
            <a:r>
              <a:rPr sz="900" b="0">
                <a:latin typeface="Barlow"/>
              </a:rPr>
              <a:t>• ECB</a:t>
            </a:r>
          </a:p>
          <a:p>
            <a:pPr algn="l">
              <a:lnSpc>
                <a:spcPts val="1200"/>
              </a:lnSpc>
              <a:spcAft>
                <a:spcPts val="200"/>
              </a:spcAft>
            </a:pPr>
            <a:r>
              <a:rPr sz="900" b="0">
                <a:latin typeface="Barlow"/>
              </a:rPr>
              <a:t>• Stress Testing</a:t>
            </a:r>
          </a:p>
          <a:p>
            <a:pPr algn="l">
              <a:lnSpc>
                <a:spcPts val="1200"/>
              </a:lnSpc>
              <a:spcAft>
                <a:spcPts val="200"/>
              </a:spcAft>
            </a:pPr>
            <a:r>
              <a:rPr sz="900" b="0">
                <a:latin typeface="Barlow"/>
              </a:rPr>
              <a:t>• CCAR</a:t>
            </a:r>
          </a:p>
          <a:p>
            <a:pPr algn="l">
              <a:lnSpc>
                <a:spcPts val="1200"/>
              </a:lnSpc>
              <a:spcAft>
                <a:spcPts val="200"/>
              </a:spcAft>
            </a:pPr>
            <a:r>
              <a:rPr sz="900" b="0">
                <a:latin typeface="Barlow"/>
              </a:rPr>
              <a:t>• ICAAP</a:t>
            </a:r>
          </a:p>
          <a:p>
            <a:pPr algn="l">
              <a:lnSpc>
                <a:spcPts val="1200"/>
              </a:lnSpc>
              <a:spcAft>
                <a:spcPts val="200"/>
              </a:spcAft>
            </a:pPr>
            <a:r>
              <a:rPr sz="900" b="0">
                <a:latin typeface="Barlow"/>
              </a:rPr>
              <a:t>• Market Risk</a:t>
            </a:r>
          </a:p>
          <a:p>
            <a:pPr algn="l">
              <a:lnSpc>
                <a:spcPts val="1200"/>
              </a:lnSpc>
              <a:spcAft>
                <a:spcPts val="200"/>
              </a:spcAft>
            </a:pPr>
            <a:r>
              <a:rPr sz="900" b="0">
                <a:latin typeface="Barlow"/>
              </a:rPr>
              <a:t>• Counterparty Risk</a:t>
            </a:r>
          </a:p>
          <a:p>
            <a:pPr algn="l">
              <a:lnSpc>
                <a:spcPts val="1200"/>
              </a:lnSpc>
              <a:spcAft>
                <a:spcPts val="200"/>
              </a:spcAft>
            </a:pPr>
            <a:r>
              <a:rPr sz="900" b="0">
                <a:latin typeface="Barlow"/>
              </a:rPr>
              <a:t>• Data Governance</a:t>
            </a:r>
          </a:p>
          <a:p>
            <a:pPr algn="l">
              <a:lnSpc>
                <a:spcPts val="1200"/>
              </a:lnSpc>
              <a:spcAft>
                <a:spcPts val="200"/>
              </a:spcAft>
            </a:pPr>
            <a:r>
              <a:rPr sz="900" b="0">
                <a:latin typeface="Barlow"/>
              </a:rPr>
              <a:t>• Risk Analytics</a:t>
            </a:r>
          </a:p>
          <a:p>
            <a:pPr algn="l">
              <a:lnSpc>
                <a:spcPts val="1200"/>
              </a:lnSpc>
              <a:spcAft>
                <a:spcPts val="200"/>
              </a:spcAft>
            </a:pPr>
            <a:r>
              <a:rPr sz="900" b="0">
                <a:latin typeface="Barlow"/>
              </a:rPr>
              <a:t>• IFRS-9</a:t>
            </a:r>
          </a:p>
          <a:p>
            <a:pPr>
              <a:spcBef>
                <a:spcPts val="1200"/>
              </a:spcBef>
              <a:spcAft>
                <a:spcPts val="400"/>
              </a:spcAft>
            </a:pPr>
            <a:r>
              <a:rPr sz="900" b="1">
                <a:solidFill>
                  <a:srgbClr val="00ACC4"/>
                </a:solidFill>
                <a:latin typeface="Barlow"/>
              </a:rPr>
              <a:t>INDUSTRY EXPERTISE</a:t>
            </a:r>
          </a:p>
          <a:p>
            <a:pPr algn="l">
              <a:lnSpc>
                <a:spcPts val="1200"/>
              </a:lnSpc>
              <a:spcAft>
                <a:spcPts val="200"/>
              </a:spcAft>
            </a:pPr>
            <a:r>
              <a:rPr sz="900" b="0">
                <a:latin typeface="Barlow"/>
              </a:rPr>
              <a:t>• Investment Banking</a:t>
            </a:r>
          </a:p>
          <a:p>
            <a:pPr algn="l">
              <a:lnSpc>
                <a:spcPts val="1200"/>
              </a:lnSpc>
              <a:spcAft>
                <a:spcPts val="200"/>
              </a:spcAft>
            </a:pPr>
            <a:r>
              <a:rPr sz="900" b="0">
                <a:latin typeface="Barlow"/>
              </a:rPr>
              <a:t>• Regulatory Risk</a:t>
            </a:r>
          </a:p>
          <a:p>
            <a:pPr algn="l">
              <a:lnSpc>
                <a:spcPts val="1200"/>
              </a:lnSpc>
              <a:spcAft>
                <a:spcPts val="200"/>
              </a:spcAft>
            </a:pPr>
            <a:r>
              <a:rPr sz="900" b="0">
                <a:latin typeface="Barlow"/>
              </a:rPr>
              <a:t>• Capital Markets</a:t>
            </a:r>
          </a:p>
          <a:p>
            <a:pPr>
              <a:spcBef>
                <a:spcPts val="1200"/>
              </a:spcBef>
              <a:spcAft>
                <a:spcPts val="400"/>
              </a:spcAft>
            </a:pPr>
            <a:r>
              <a:rPr sz="900" b="1">
                <a:solidFill>
                  <a:srgbClr val="00ACC4"/>
                </a:solidFill>
                <a:latin typeface="Barlow"/>
              </a:rPr>
              <a:t>EDUCATION</a:t>
            </a:r>
          </a:p>
          <a:p>
            <a:pPr algn="l">
              <a:lnSpc>
                <a:spcPts val="1200"/>
              </a:lnSpc>
              <a:spcAft>
                <a:spcPts val="200"/>
              </a:spcAft>
            </a:pPr>
            <a:r>
              <a:rPr sz="900" b="0">
                <a:latin typeface="Barlow"/>
              </a:rPr>
              <a:t>• Master of Science in Financial Engineering</a:t>
            </a:r>
          </a:p>
          <a:p>
            <a:pPr algn="l">
              <a:lnSpc>
                <a:spcPts val="1200"/>
              </a:lnSpc>
              <a:spcAft>
                <a:spcPts val="200"/>
              </a:spcAft>
            </a:pPr>
            <a:r>
              <a:rPr sz="900" b="0">
                <a:latin typeface="Barlow"/>
              </a:rPr>
              <a:t>• Bachelor of Engineering</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300"/>
              </a:lnSpc>
              <a:spcBef>
                <a:spcPts val="100"/>
              </a:spcBef>
              <a:spcAft>
                <a:spcPts val="200"/>
              </a:spcAft>
              <a:defRPr/>
            </a:pPr>
            <a:r>
              <a:rPr sz="900" b="1">
                <a:latin typeface="Barlow"/>
              </a:rPr>
              <a:t>Vikramaditya Roy has 7 years of experience as a Senior Functional Consultant specialising in Enterprise Credit Risk Automation, Basel III/3.1 Capital Calculations, and Regulatory Reporting within the Investment Banking industry.</a:t>
            </a:r>
            <a:r>
              <a:rPr sz="900" b="0">
                <a:latin typeface="Barlow"/>
              </a:rPr>
              <a:t> He specializes in designing robust risk analytics platforms, translating complex prudential regulations into automated calculation engines, and optimizing credit decisioning workflows. Vikramaditya collaborates closely with quantitative modelers, credit risk officers, and IT developers to streamline risk-weighted asset calculations, stress testing data pipelines, and regulatory submissions across global jurisdictions.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300"/>
              </a:lnSpc>
              <a:spcBef>
                <a:spcPts val="1000"/>
              </a:spcBef>
              <a:spcAft>
                <a:spcPts val="300"/>
              </a:spcAft>
            </a:pPr>
            <a:r>
              <a:rPr b="1" sz="900">
                <a:latin typeface="Barlow"/>
              </a:rPr>
              <a:t>Global Investment Bank – Enterprise Regulatory Capital &amp; Stress Testing Engine – Lead Functional Risk Consultant</a:t>
            </a:r>
          </a:p>
          <a:p>
            <a:pPr>
              <a:lnSpc>
                <a:spcPts val="1300"/>
              </a:lnSpc>
              <a:spcBef>
                <a:spcPts val="100"/>
              </a:spcBef>
              <a:spcAft>
                <a:spcPts val="350"/>
              </a:spcAft>
            </a:pPr>
            <a:r>
              <a:rPr sz="900" b="0">
                <a:latin typeface="Barlow"/>
              </a:rPr>
              <a:t>• Spearheaded the functional design and implementation of a multi-jurisdictional Basel III/3.1 Regulatory Capital calculation platform, automating RWA calculations for over $45B in wholesale exposures.</a:t>
            </a:r>
          </a:p>
          <a:p>
            <a:pPr>
              <a:lnSpc>
                <a:spcPts val="1300"/>
              </a:lnSpc>
              <a:spcBef>
                <a:spcPts val="100"/>
              </a:spcBef>
              <a:spcAft>
                <a:spcPts val="350"/>
              </a:spcAft>
            </a:pPr>
            <a:r>
              <a:rPr sz="900" b="0">
                <a:latin typeface="Barlow"/>
              </a:rPr>
              <a:t>• Authored end-to-end functional specifications translating PRA and ECB capital rules, credit risk mitigation (CRM) haircut algorithms, and supervisory slotting criteria into scalable calculation logic.</a:t>
            </a:r>
          </a:p>
          <a:p>
            <a:pPr>
              <a:lnSpc>
                <a:spcPts val="1300"/>
              </a:lnSpc>
              <a:spcBef>
                <a:spcPts val="100"/>
              </a:spcBef>
              <a:spcAft>
                <a:spcPts val="350"/>
              </a:spcAft>
            </a:pPr>
            <a:r>
              <a:rPr sz="900" b="0">
                <a:latin typeface="Barlow"/>
              </a:rPr>
              <a:t>• Engineered comprehensive data validation, reconciliation, and exception-handling frameworks using SQL and Python, ensuring 100% data integrity between front-office trade capture systems and regulatory risk datamarts.</a:t>
            </a:r>
          </a:p>
          <a:p>
            <a:pPr>
              <a:lnSpc>
                <a:spcPts val="1300"/>
              </a:lnSpc>
              <a:spcBef>
                <a:spcPts val="100"/>
              </a:spcBef>
              <a:spcAft>
                <a:spcPts val="350"/>
              </a:spcAft>
            </a:pPr>
            <a:r>
              <a:rPr sz="900" b="0">
                <a:latin typeface="Barlow"/>
              </a:rPr>
              <a:t>• Led the functional delivery of automated CCAR and ICAAP stress-testing scenario engines, enabling risk officers to model macroeconomic shock impacts across credit portfolios in real-time.</a:t>
            </a:r>
          </a:p>
          <a:p>
            <a:pPr>
              <a:lnSpc>
                <a:spcPts val="1300"/>
              </a:lnSpc>
              <a:spcBef>
                <a:spcPts val="100"/>
              </a:spcBef>
              <a:spcAft>
                <a:spcPts val="350"/>
              </a:spcAft>
            </a:pPr>
            <a:r>
              <a:rPr sz="900" b="0">
                <a:latin typeface="Barlow"/>
              </a:rPr>
              <a:t>• Designed and executed over 350 end-to-end UAT test cases covering complex derivative collateralizations, securitization tranches, and wholesale lending defaults, achieving zero post-deployment regulatory defects.</a:t>
            </a:r>
          </a:p>
          <a:p>
            <a:pPr>
              <a:lnSpc>
                <a:spcPts val="1300"/>
              </a:lnSpc>
              <a:spcBef>
                <a:spcPts val="100"/>
              </a:spcBef>
              <a:spcAft>
                <a:spcPts val="350"/>
              </a:spcAft>
            </a:pPr>
            <a:r>
              <a:rPr sz="900" b="0">
                <a:latin typeface="Barlow"/>
              </a:rPr>
              <a:t>• Facilitated executive walkthroughs and steering committee presentations with Chief Risk Officers, regulators, and external auditors, establishing complete transparency and auditability of calculation methodologies.</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